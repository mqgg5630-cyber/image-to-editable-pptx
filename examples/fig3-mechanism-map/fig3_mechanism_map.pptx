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18288000"/>
  <p:notesSz cx="1828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4312" y="6846094"/>
            <a:ext cx="0" cy="1845469"/>
          </a:xfrm>
          <a:prstGeom prst="line">
            <a:avLst/>
          </a:prstGeom>
          <a:noFill/>
          <a:ln w="15875">
            <a:solidFill>
              <a:srgbClr val="3A3A3A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5131594" y="11406187"/>
            <a:ext cx="1476375" cy="1345406"/>
          </a:xfrm>
          <a:prstGeom prst="roundRect">
            <a:avLst/>
          </a:prstGeom>
          <a:solidFill>
            <a:srgbClr val="F6F3F8"/>
          </a:solidFill>
          <a:ln w="22225">
            <a:solidFill>
              <a:srgbClr val="492D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45906" y="11441906"/>
            <a:ext cx="928687" cy="619125"/>
          </a:xfrm>
          <a:prstGeom prst="ellipse">
            <a:avLst/>
          </a:prstGeom>
          <a:solidFill>
            <a:srgbClr val="684988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00687" y="11572875"/>
            <a:ext cx="547687" cy="357187"/>
          </a:xfrm>
          <a:prstGeom prst="ellipse">
            <a:avLst/>
          </a:prstGeom>
          <a:solidFill>
            <a:srgbClr val="8B6FAD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95687" y="666750"/>
            <a:ext cx="5500687" cy="1416844"/>
          </a:xfrm>
          <a:prstGeom prst="ellipse">
            <a:avLst/>
          </a:prstGeom>
          <a:solidFill>
            <a:srgbClr val="FFFFFF">
              <a:alpha val="0"/>
            </a:srgbClr>
          </a:solidFill>
          <a:ln w="38100">
            <a:solidFill>
              <a:srgbClr val="A02D1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33812" y="881062"/>
            <a:ext cx="4143375" cy="1023937"/>
          </a:xfrm>
          <a:prstGeom prst="ellipse">
            <a:avLst/>
          </a:prstGeom>
          <a:solidFill>
            <a:srgbClr val="BF5D4A"/>
          </a:solidFill>
          <a:ln w="31750">
            <a:solidFill>
              <a:srgbClr val="A02D1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62500" y="1547812"/>
            <a:ext cx="154781" cy="107156"/>
          </a:xfrm>
          <a:prstGeom prst="ellipse">
            <a:avLst/>
          </a:prstGeom>
          <a:solidFill>
            <a:srgbClr val="A02D1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76875" y="1785937"/>
            <a:ext cx="154781" cy="107156"/>
          </a:xfrm>
          <a:prstGeom prst="ellipse">
            <a:avLst/>
          </a:prstGeom>
          <a:solidFill>
            <a:srgbClr val="A02D1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1250" y="1690687"/>
            <a:ext cx="154781" cy="107156"/>
          </a:xfrm>
          <a:prstGeom prst="ellipse">
            <a:avLst/>
          </a:prstGeom>
          <a:solidFill>
            <a:srgbClr val="A02D1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05625" y="1845469"/>
            <a:ext cx="154781" cy="107156"/>
          </a:xfrm>
          <a:prstGeom prst="ellipse">
            <a:avLst/>
          </a:prstGeom>
          <a:solidFill>
            <a:srgbClr val="A02D1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57437" y="2452687"/>
            <a:ext cx="178594" cy="1095375"/>
          </a:xfrm>
          <a:prstGeom prst="roundRect">
            <a:avLst/>
          </a:prstGeom>
          <a:solidFill>
            <a:srgbClr val="9B352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31281" y="2750344"/>
            <a:ext cx="976312" cy="107156"/>
          </a:xfrm>
          <a:prstGeom prst="rect">
            <a:avLst/>
          </a:prstGeom>
          <a:solidFill>
            <a:srgbClr val="9B352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76812" y="3167062"/>
            <a:ext cx="547687" cy="559594"/>
          </a:xfrm>
          <a:prstGeom prst="roundRect">
            <a:avLst/>
          </a:prstGeom>
          <a:solidFill>
            <a:srgbClr val="9B352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38812" y="3167062"/>
            <a:ext cx="571500" cy="559594"/>
          </a:xfrm>
          <a:prstGeom prst="roundRect">
            <a:avLst/>
          </a:prstGeom>
          <a:solidFill>
            <a:srgbClr val="9B352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00812" y="3167062"/>
            <a:ext cx="500062" cy="559594"/>
          </a:xfrm>
          <a:prstGeom prst="roundRect">
            <a:avLst/>
          </a:prstGeom>
          <a:solidFill>
            <a:srgbClr val="9B352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55781" y="2786062"/>
            <a:ext cx="714375" cy="714375"/>
          </a:xfrm>
          <a:prstGeom prst="ellipse">
            <a:avLst/>
          </a:prstGeom>
          <a:solidFill>
            <a:srgbClr val="FFFFFF">
              <a:alpha val="0"/>
            </a:srgbClr>
          </a:solidFill>
          <a:ln w="38100">
            <a:solidFill>
              <a:srgbClr val="9B352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905875" y="2464594"/>
            <a:ext cx="595312" cy="595312"/>
          </a:xfrm>
          <a:prstGeom prst="ellipse">
            <a:avLst/>
          </a:prstGeom>
          <a:solidFill>
            <a:srgbClr val="FFFFFF">
              <a:alpha val="0"/>
            </a:srgbClr>
          </a:solidFill>
          <a:ln w="38100">
            <a:solidFill>
              <a:srgbClr val="9B352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98781" y="3071812"/>
            <a:ext cx="559594" cy="571500"/>
          </a:xfrm>
          <a:prstGeom prst="ellipse">
            <a:avLst/>
          </a:prstGeom>
          <a:solidFill>
            <a:srgbClr val="FFFFFF">
              <a:alpha val="0"/>
            </a:srgbClr>
          </a:solidFill>
          <a:ln w="38100">
            <a:solidFill>
              <a:srgbClr val="9B352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34375" y="2976562"/>
            <a:ext cx="71437" cy="71437"/>
          </a:xfrm>
          <a:prstGeom prst="ellipse">
            <a:avLst/>
          </a:prstGeom>
          <a:solidFill>
            <a:srgbClr val="9B352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24875" y="3143250"/>
            <a:ext cx="71437" cy="71437"/>
          </a:xfrm>
          <a:prstGeom prst="ellipse">
            <a:avLst/>
          </a:prstGeom>
          <a:solidFill>
            <a:srgbClr val="9B352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82000" y="3286125"/>
            <a:ext cx="71437" cy="71437"/>
          </a:xfrm>
          <a:prstGeom prst="ellipse">
            <a:avLst/>
          </a:prstGeom>
          <a:solidFill>
            <a:srgbClr val="9B352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72500" y="2905125"/>
            <a:ext cx="71437" cy="71437"/>
          </a:xfrm>
          <a:prstGeom prst="ellipse">
            <a:avLst/>
          </a:prstGeom>
          <a:solidFill>
            <a:srgbClr val="9B352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53437" y="3071812"/>
            <a:ext cx="71437" cy="71437"/>
          </a:xfrm>
          <a:prstGeom prst="ellipse">
            <a:avLst/>
          </a:prstGeom>
          <a:solidFill>
            <a:srgbClr val="9B352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1500" y="4905375"/>
            <a:ext cx="2893219" cy="976312"/>
          </a:xfrm>
          <a:prstGeom prst="roundRect">
            <a:avLst/>
          </a:prstGeom>
          <a:solidFill>
            <a:srgbClr val="F6F3F8"/>
          </a:solidFill>
          <a:ln w="25400">
            <a:solidFill>
              <a:srgbClr val="492D6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29125" y="4905375"/>
            <a:ext cx="3083719" cy="976312"/>
          </a:xfrm>
          <a:prstGeom prst="roundRect">
            <a:avLst/>
          </a:prstGeom>
          <a:solidFill>
            <a:srgbClr val="F6F3F8"/>
          </a:solidFill>
          <a:ln w="25400">
            <a:solidFill>
              <a:srgbClr val="492D6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96250" y="4905375"/>
            <a:ext cx="3702844" cy="964406"/>
          </a:xfrm>
          <a:prstGeom prst="roundRect">
            <a:avLst/>
          </a:prstGeom>
          <a:solidFill>
            <a:srgbClr val="F6F3F8"/>
          </a:solidFill>
          <a:ln w="25400">
            <a:solidFill>
              <a:srgbClr val="492D6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6750" y="5048250"/>
            <a:ext cx="321469" cy="321469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4A2F6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60094" y="5048250"/>
            <a:ext cx="321469" cy="321469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4A2F6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79594" y="5048250"/>
            <a:ext cx="321469" cy="321469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4A2F6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28687" y="8548687"/>
            <a:ext cx="2476500" cy="523875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1C1C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28687" y="11430000"/>
            <a:ext cx="1143000" cy="904875"/>
          </a:xfrm>
          <a:prstGeom prst="ellipse">
            <a:avLst/>
          </a:prstGeom>
          <a:solidFill>
            <a:srgbClr val="8B6FAD">
              <a:alpha val="45000"/>
            </a:srgbClr>
          </a:solidFill>
          <a:ln w="44450">
            <a:solidFill>
              <a:srgbClr val="6849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43000" y="11620500"/>
            <a:ext cx="714375" cy="523875"/>
          </a:xfrm>
          <a:prstGeom prst="ellipse">
            <a:avLst/>
          </a:prstGeom>
          <a:solidFill>
            <a:srgbClr val="FFFFFF">
              <a:alpha val="0"/>
            </a:srgbClr>
          </a:solidFill>
          <a:ln w="31750">
            <a:solidFill>
              <a:srgbClr val="68498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976437" y="11906250"/>
            <a:ext cx="1571625" cy="571500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492D6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572125" y="6858000"/>
            <a:ext cx="261937" cy="1333500"/>
          </a:xfrm>
          <a:prstGeom prst="roundRect">
            <a:avLst/>
          </a:prstGeom>
          <a:solidFill>
            <a:srgbClr val="1B6A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57750" y="8536781"/>
            <a:ext cx="1952625" cy="428625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1C1C1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214812" y="9882187"/>
            <a:ext cx="642937" cy="428625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0D596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27219" y="6179344"/>
            <a:ext cx="166687" cy="654844"/>
          </a:xfrm>
          <a:prstGeom prst="roundRect">
            <a:avLst/>
          </a:prstGeom>
          <a:solidFill>
            <a:srgbClr val="9B352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953500" y="6405562"/>
            <a:ext cx="381000" cy="381000"/>
          </a:xfrm>
          <a:prstGeom prst="ellipse">
            <a:avLst/>
          </a:prstGeom>
          <a:solidFill>
            <a:srgbClr val="FFFFFF">
              <a:alpha val="0"/>
            </a:srgbClr>
          </a:solidFill>
          <a:ln w="31750">
            <a:solidFill>
              <a:srgbClr val="9B352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334500" y="6203156"/>
            <a:ext cx="357187" cy="357187"/>
          </a:xfrm>
          <a:prstGeom prst="ellipse">
            <a:avLst/>
          </a:prstGeom>
          <a:solidFill>
            <a:srgbClr val="FFFFFF">
              <a:alpha val="0"/>
            </a:srgbClr>
          </a:solidFill>
          <a:ln w="31750">
            <a:solidFill>
              <a:srgbClr val="9B352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501062" y="7346156"/>
            <a:ext cx="809625" cy="1000125"/>
          </a:xfrm>
          <a:prstGeom prst="ellipse">
            <a:avLst/>
          </a:prstGeom>
          <a:solidFill>
            <a:srgbClr val="B9D6D8"/>
          </a:solidFill>
          <a:ln w="28575">
            <a:solidFill>
              <a:srgbClr val="58387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001000" y="8382000"/>
            <a:ext cx="1785937" cy="333375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1C1C1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810500" y="8667750"/>
            <a:ext cx="2381250" cy="333375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1C1C1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715250" y="9358312"/>
            <a:ext cx="2524125" cy="595312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1C1C1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310812" y="9167812"/>
            <a:ext cx="1738312" cy="619125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1C1C1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024812" y="11453812"/>
            <a:ext cx="2595562" cy="738187"/>
          </a:xfrm>
          <a:prstGeom prst="roundRect">
            <a:avLst/>
          </a:prstGeom>
          <a:solidFill>
            <a:srgbClr val="F6F3F8"/>
          </a:solidFill>
          <a:ln w="25400">
            <a:solidFill>
              <a:srgbClr val="492D6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61937" y="13358812"/>
            <a:ext cx="3595687" cy="2750344"/>
          </a:xfrm>
          <a:prstGeom prst="roundRect">
            <a:avLst/>
          </a:prstGeom>
          <a:solidFill>
            <a:srgbClr val="F6F3F8"/>
          </a:solidFill>
          <a:ln w="25400">
            <a:solidFill>
              <a:srgbClr val="492D6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286250" y="13370718"/>
            <a:ext cx="3464719" cy="2762250"/>
          </a:xfrm>
          <a:prstGeom prst="roundRect">
            <a:avLst/>
          </a:prstGeom>
          <a:solidFill>
            <a:srgbClr val="F6F3F8"/>
          </a:solidFill>
          <a:ln w="25400">
            <a:solidFill>
              <a:srgbClr val="492D6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131969" y="13346906"/>
            <a:ext cx="3548062" cy="2762250"/>
          </a:xfrm>
          <a:prstGeom prst="roundRect">
            <a:avLst/>
          </a:prstGeom>
          <a:solidFill>
            <a:srgbClr val="F6F3F8"/>
          </a:solidFill>
          <a:ln w="25400">
            <a:solidFill>
              <a:srgbClr val="492D6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38187" y="14430375"/>
            <a:ext cx="666750" cy="785812"/>
          </a:xfrm>
          <a:prstGeom prst="ellipse">
            <a:avLst/>
          </a:prstGeom>
          <a:solidFill>
            <a:srgbClr val="B398C4">
              <a:alpha val="58000"/>
            </a:srgbClr>
          </a:solidFill>
          <a:ln w="25400">
            <a:solidFill>
              <a:srgbClr val="8A6F9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95312" y="14763750"/>
            <a:ext cx="285750" cy="214312"/>
          </a:xfrm>
          <a:prstGeom prst="ellipse">
            <a:avLst/>
          </a:prstGeom>
          <a:solidFill>
            <a:srgbClr val="B398C4">
              <a:alpha val="70000"/>
            </a:srgbClr>
          </a:solidFill>
          <a:ln w="19050">
            <a:solidFill>
              <a:srgbClr val="8A6F9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643437" y="13692187"/>
            <a:ext cx="1095375" cy="1166812"/>
          </a:xfrm>
          <a:prstGeom prst="chevron">
            <a:avLst/>
          </a:prstGeom>
          <a:solidFill>
            <a:srgbClr val="95BEC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00562" y="15335250"/>
            <a:ext cx="1285875" cy="500062"/>
          </a:xfrm>
          <a:prstGeom prst="chevron">
            <a:avLst/>
          </a:prstGeom>
          <a:solidFill>
            <a:srgbClr val="A5C9CB">
              <a:alpha val="7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310562" y="14227968"/>
            <a:ext cx="1524000" cy="1131094"/>
          </a:xfrm>
          <a:prstGeom prst="chevron">
            <a:avLst/>
          </a:prstGeom>
          <a:solidFill>
            <a:srgbClr val="C2A8D1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03469" y="13858875"/>
            <a:ext cx="1143000" cy="642937"/>
          </a:xfrm>
          <a:prstGeom prst="ellipse">
            <a:avLst/>
          </a:prstGeom>
          <a:solidFill>
            <a:srgbClr val="C9B2D6">
              <a:alpha val="85000"/>
            </a:srgbClr>
          </a:solidFill>
          <a:ln w="25400">
            <a:solidFill>
              <a:srgbClr val="8A6F9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525000" y="14025562"/>
            <a:ext cx="404812" cy="357187"/>
          </a:xfrm>
          <a:prstGeom prst="ellipse">
            <a:avLst/>
          </a:prstGeom>
          <a:solidFill>
            <a:srgbClr val="C9B2D6">
              <a:alpha val="85000"/>
            </a:srgbClr>
          </a:solidFill>
          <a:ln w="22225">
            <a:solidFill>
              <a:srgbClr val="8A6F9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298031" y="16490156"/>
            <a:ext cx="5143500" cy="881062"/>
          </a:xfrm>
          <a:prstGeom prst="roundRect">
            <a:avLst/>
          </a:prstGeom>
          <a:solidFill>
            <a:srgbClr val="F3F1F6"/>
          </a:solidFill>
          <a:ln w="25400">
            <a:solidFill>
              <a:srgbClr val="5F497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40531" y="17549812"/>
            <a:ext cx="8072437" cy="619125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79617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59594" y="17704593"/>
            <a:ext cx="285750" cy="285750"/>
          </a:xfrm>
          <a:prstGeom prst="rect">
            <a:avLst/>
          </a:prstGeom>
          <a:solidFill>
            <a:srgbClr val="9421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845719" y="17716500"/>
            <a:ext cx="273844" cy="273844"/>
          </a:xfrm>
          <a:prstGeom prst="rect">
            <a:avLst/>
          </a:prstGeom>
          <a:solidFill>
            <a:srgbClr val="1066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405562" y="17716500"/>
            <a:ext cx="273844" cy="273844"/>
          </a:xfrm>
          <a:prstGeom prst="rect">
            <a:avLst/>
          </a:prstGeom>
          <a:solidFill>
            <a:srgbClr val="50307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940844" y="2143125"/>
            <a:ext cx="0" cy="381000"/>
          </a:xfrm>
          <a:prstGeom prst="line">
            <a:avLst/>
          </a:prstGeom>
          <a:noFill/>
          <a:ln w="2540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5881687" y="2119312"/>
            <a:ext cx="0" cy="476250"/>
          </a:xfrm>
          <a:prstGeom prst="line">
            <a:avLst/>
          </a:prstGeom>
          <a:noFill/>
          <a:ln w="2540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9155906" y="2143125"/>
            <a:ext cx="0" cy="381000"/>
          </a:xfrm>
          <a:prstGeom prst="line">
            <a:avLst/>
          </a:prstGeom>
          <a:noFill/>
          <a:ln w="2540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2643187" y="2857500"/>
            <a:ext cx="0" cy="666750"/>
          </a:xfrm>
          <a:prstGeom prst="line">
            <a:avLst/>
          </a:prstGeom>
          <a:noFill/>
          <a:ln w="22225">
            <a:solidFill>
              <a:srgbClr val="9B3521"/>
            </a:solidFill>
            <a:prstDash val="solid"/>
            <a:headEnd type="none"/>
            <a:tailEnd type="none"/>
          </a:ln>
        </p:spPr>
      </p:sp>
      <p:sp>
        <p:nvSpPr>
          <p:cNvPr id="66" name="Shape 64"/>
          <p:cNvSpPr/>
          <p:nvPr/>
        </p:nvSpPr>
        <p:spPr>
          <a:xfrm>
            <a:off x="2857500" y="2857500"/>
            <a:ext cx="0" cy="666750"/>
          </a:xfrm>
          <a:prstGeom prst="line">
            <a:avLst/>
          </a:prstGeom>
          <a:noFill/>
          <a:ln w="22225">
            <a:solidFill>
              <a:srgbClr val="9B3521"/>
            </a:solidFill>
            <a:prstDash val="solid"/>
            <a:headEnd type="none"/>
            <a:tailEnd type="none"/>
          </a:ln>
        </p:spPr>
      </p:sp>
      <p:sp>
        <p:nvSpPr>
          <p:cNvPr id="67" name="Shape 65"/>
          <p:cNvSpPr/>
          <p:nvPr/>
        </p:nvSpPr>
        <p:spPr>
          <a:xfrm>
            <a:off x="3071812" y="2857500"/>
            <a:ext cx="0" cy="666750"/>
          </a:xfrm>
          <a:prstGeom prst="line">
            <a:avLst/>
          </a:prstGeom>
          <a:noFill/>
          <a:ln w="22225">
            <a:solidFill>
              <a:srgbClr val="9B3521"/>
            </a:solidFill>
            <a:prstDash val="solid"/>
            <a:headEnd type="none"/>
            <a:tailEnd type="none"/>
          </a:ln>
        </p:spPr>
      </p:sp>
      <p:sp>
        <p:nvSpPr>
          <p:cNvPr id="68" name="Shape 66"/>
          <p:cNvSpPr/>
          <p:nvPr/>
        </p:nvSpPr>
        <p:spPr>
          <a:xfrm>
            <a:off x="3250406" y="2857500"/>
            <a:ext cx="0" cy="666750"/>
          </a:xfrm>
          <a:prstGeom prst="line">
            <a:avLst/>
          </a:prstGeom>
          <a:noFill/>
          <a:ln w="22225">
            <a:solidFill>
              <a:srgbClr val="9B3521"/>
            </a:solidFill>
            <a:prstDash val="solid"/>
            <a:headEnd type="none"/>
            <a:tailEnd type="none"/>
          </a:ln>
        </p:spPr>
      </p:sp>
      <p:sp>
        <p:nvSpPr>
          <p:cNvPr id="69" name="Shape 67"/>
          <p:cNvSpPr/>
          <p:nvPr/>
        </p:nvSpPr>
        <p:spPr>
          <a:xfrm>
            <a:off x="3429000" y="2857500"/>
            <a:ext cx="0" cy="666750"/>
          </a:xfrm>
          <a:prstGeom prst="line">
            <a:avLst/>
          </a:prstGeom>
          <a:noFill/>
          <a:ln w="22225">
            <a:solidFill>
              <a:srgbClr val="9B3521"/>
            </a:solidFill>
            <a:prstDash val="solid"/>
            <a:headEnd type="none"/>
            <a:tailEnd type="none"/>
          </a:ln>
        </p:spPr>
      </p:sp>
      <p:sp>
        <p:nvSpPr>
          <p:cNvPr id="70" name="Shape 68"/>
          <p:cNvSpPr/>
          <p:nvPr/>
        </p:nvSpPr>
        <p:spPr>
          <a:xfrm>
            <a:off x="3571875" y="2857500"/>
            <a:ext cx="0" cy="666750"/>
          </a:xfrm>
          <a:prstGeom prst="line">
            <a:avLst/>
          </a:prstGeom>
          <a:noFill/>
          <a:ln w="22225">
            <a:solidFill>
              <a:srgbClr val="9B3521"/>
            </a:solidFill>
            <a:prstDash val="solid"/>
            <a:headEnd type="none"/>
            <a:tailEnd type="none"/>
          </a:ln>
        </p:spPr>
      </p:sp>
      <p:sp>
        <p:nvSpPr>
          <p:cNvPr id="71" name="Shape 69"/>
          <p:cNvSpPr/>
          <p:nvPr/>
        </p:nvSpPr>
        <p:spPr>
          <a:xfrm>
            <a:off x="2917031" y="4191000"/>
            <a:ext cx="0" cy="285750"/>
          </a:xfrm>
          <a:prstGeom prst="line">
            <a:avLst/>
          </a:prstGeom>
          <a:noFill/>
          <a:ln w="22225">
            <a:solidFill>
              <a:srgbClr val="3A3A3A"/>
            </a:solidFill>
            <a:prstDash val="solid"/>
            <a:headEnd type="none"/>
            <a:tailEnd type="none"/>
          </a:ln>
        </p:spPr>
      </p:sp>
      <p:sp>
        <p:nvSpPr>
          <p:cNvPr id="72" name="Shape 70"/>
          <p:cNvSpPr/>
          <p:nvPr/>
        </p:nvSpPr>
        <p:spPr>
          <a:xfrm>
            <a:off x="5953125" y="4191000"/>
            <a:ext cx="0" cy="285750"/>
          </a:xfrm>
          <a:prstGeom prst="line">
            <a:avLst/>
          </a:prstGeom>
          <a:noFill/>
          <a:ln w="22225">
            <a:solidFill>
              <a:srgbClr val="3A3A3A"/>
            </a:solidFill>
            <a:prstDash val="solid"/>
            <a:headEnd type="none"/>
            <a:tailEnd type="none"/>
          </a:ln>
        </p:spPr>
      </p:sp>
      <p:sp>
        <p:nvSpPr>
          <p:cNvPr id="73" name="Shape 71"/>
          <p:cNvSpPr/>
          <p:nvPr/>
        </p:nvSpPr>
        <p:spPr>
          <a:xfrm>
            <a:off x="9441656" y="4191000"/>
            <a:ext cx="0" cy="285750"/>
          </a:xfrm>
          <a:prstGeom prst="line">
            <a:avLst/>
          </a:prstGeom>
          <a:noFill/>
          <a:ln w="22225">
            <a:solidFill>
              <a:srgbClr val="3A3A3A"/>
            </a:solidFill>
            <a:prstDash val="solid"/>
            <a:headEnd type="none"/>
            <a:tailEnd type="none"/>
          </a:ln>
        </p:spPr>
      </p:sp>
      <p:sp>
        <p:nvSpPr>
          <p:cNvPr id="74" name="Shape 72"/>
          <p:cNvSpPr/>
          <p:nvPr/>
        </p:nvSpPr>
        <p:spPr>
          <a:xfrm>
            <a:off x="1964531" y="4500562"/>
            <a:ext cx="8036719" cy="0"/>
          </a:xfrm>
          <a:prstGeom prst="line">
            <a:avLst/>
          </a:prstGeom>
          <a:noFill/>
          <a:ln w="22225">
            <a:solidFill>
              <a:srgbClr val="3A3A3A"/>
            </a:solidFill>
            <a:prstDash val="solid"/>
            <a:headEnd type="none"/>
            <a:tailEnd type="none"/>
          </a:ln>
        </p:spPr>
      </p:sp>
      <p:sp>
        <p:nvSpPr>
          <p:cNvPr id="75" name="Shape 73"/>
          <p:cNvSpPr/>
          <p:nvPr/>
        </p:nvSpPr>
        <p:spPr>
          <a:xfrm>
            <a:off x="1964531" y="4524375"/>
            <a:ext cx="0" cy="333375"/>
          </a:xfrm>
          <a:prstGeom prst="line">
            <a:avLst/>
          </a:prstGeom>
          <a:noFill/>
          <a:ln w="22225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76" name="Shape 74"/>
          <p:cNvSpPr/>
          <p:nvPr/>
        </p:nvSpPr>
        <p:spPr>
          <a:xfrm>
            <a:off x="6096000" y="4524375"/>
            <a:ext cx="0" cy="333375"/>
          </a:xfrm>
          <a:prstGeom prst="line">
            <a:avLst/>
          </a:prstGeom>
          <a:noFill/>
          <a:ln w="22225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77" name="Shape 75"/>
          <p:cNvSpPr/>
          <p:nvPr/>
        </p:nvSpPr>
        <p:spPr>
          <a:xfrm>
            <a:off x="9465469" y="4524375"/>
            <a:ext cx="0" cy="333375"/>
          </a:xfrm>
          <a:prstGeom prst="line">
            <a:avLst/>
          </a:prstGeom>
          <a:noFill/>
          <a:ln w="22225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78" name="Shape 76"/>
          <p:cNvSpPr/>
          <p:nvPr/>
        </p:nvSpPr>
        <p:spPr>
          <a:xfrm>
            <a:off x="1476375" y="6179344"/>
            <a:ext cx="0" cy="345281"/>
          </a:xfrm>
          <a:prstGeom prst="line">
            <a:avLst/>
          </a:prstGeom>
          <a:noFill/>
          <a:ln w="76200">
            <a:solidFill>
              <a:srgbClr val="9B3521"/>
            </a:solidFill>
            <a:prstDash val="solid"/>
            <a:headEnd type="none"/>
            <a:tailEnd type="triangle"/>
          </a:ln>
        </p:spPr>
      </p:sp>
      <p:sp>
        <p:nvSpPr>
          <p:cNvPr id="79" name="Shape 77"/>
          <p:cNvSpPr/>
          <p:nvPr/>
        </p:nvSpPr>
        <p:spPr>
          <a:xfrm>
            <a:off x="1976437" y="6179344"/>
            <a:ext cx="0" cy="345281"/>
          </a:xfrm>
          <a:prstGeom prst="line">
            <a:avLst/>
          </a:prstGeom>
          <a:noFill/>
          <a:ln w="76200">
            <a:solidFill>
              <a:srgbClr val="9B3521"/>
            </a:solidFill>
            <a:prstDash val="solid"/>
            <a:headEnd type="none"/>
            <a:tailEnd type="triangle"/>
          </a:ln>
        </p:spPr>
      </p:sp>
      <p:sp>
        <p:nvSpPr>
          <p:cNvPr id="80" name="Shape 78"/>
          <p:cNvSpPr/>
          <p:nvPr/>
        </p:nvSpPr>
        <p:spPr>
          <a:xfrm>
            <a:off x="2476500" y="6179344"/>
            <a:ext cx="0" cy="345281"/>
          </a:xfrm>
          <a:prstGeom prst="line">
            <a:avLst/>
          </a:prstGeom>
          <a:noFill/>
          <a:ln w="76200">
            <a:solidFill>
              <a:srgbClr val="9B3521"/>
            </a:solidFill>
            <a:prstDash val="solid"/>
            <a:headEnd type="none"/>
            <a:tailEnd type="triangle"/>
          </a:ln>
        </p:spPr>
      </p:sp>
      <p:sp>
        <p:nvSpPr>
          <p:cNvPr id="81" name="Shape 79"/>
          <p:cNvSpPr/>
          <p:nvPr/>
        </p:nvSpPr>
        <p:spPr>
          <a:xfrm>
            <a:off x="5500687" y="6179344"/>
            <a:ext cx="0" cy="345281"/>
          </a:xfrm>
          <a:prstGeom prst="line">
            <a:avLst/>
          </a:prstGeom>
          <a:noFill/>
          <a:ln w="76200">
            <a:solidFill>
              <a:srgbClr val="9B3521"/>
            </a:solidFill>
            <a:prstDash val="solid"/>
            <a:headEnd type="none"/>
            <a:tailEnd type="triangle"/>
          </a:ln>
        </p:spPr>
      </p:sp>
      <p:sp>
        <p:nvSpPr>
          <p:cNvPr id="82" name="Shape 80"/>
          <p:cNvSpPr/>
          <p:nvPr/>
        </p:nvSpPr>
        <p:spPr>
          <a:xfrm>
            <a:off x="5881687" y="6179344"/>
            <a:ext cx="0" cy="345281"/>
          </a:xfrm>
          <a:prstGeom prst="line">
            <a:avLst/>
          </a:prstGeom>
          <a:noFill/>
          <a:ln w="76200">
            <a:solidFill>
              <a:srgbClr val="9B3521"/>
            </a:solidFill>
            <a:prstDash val="solid"/>
            <a:headEnd type="none"/>
            <a:tailEnd type="triangle"/>
          </a:ln>
        </p:spPr>
      </p:sp>
      <p:sp>
        <p:nvSpPr>
          <p:cNvPr id="83" name="Shape 81"/>
          <p:cNvSpPr/>
          <p:nvPr/>
        </p:nvSpPr>
        <p:spPr>
          <a:xfrm>
            <a:off x="6262687" y="6179344"/>
            <a:ext cx="0" cy="345281"/>
          </a:xfrm>
          <a:prstGeom prst="line">
            <a:avLst/>
          </a:prstGeom>
          <a:noFill/>
          <a:ln w="76200">
            <a:solidFill>
              <a:srgbClr val="9B3521"/>
            </a:solidFill>
            <a:prstDash val="solid"/>
            <a:headEnd type="none"/>
            <a:tailEnd type="triangle"/>
          </a:ln>
        </p:spPr>
      </p:sp>
      <p:sp>
        <p:nvSpPr>
          <p:cNvPr id="84" name="Shape 82"/>
          <p:cNvSpPr/>
          <p:nvPr/>
        </p:nvSpPr>
        <p:spPr>
          <a:xfrm>
            <a:off x="1666875" y="6560344"/>
            <a:ext cx="0" cy="369094"/>
          </a:xfrm>
          <a:prstGeom prst="line">
            <a:avLst/>
          </a:prstGeom>
          <a:noFill/>
          <a:ln w="2540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85" name="Shape 83"/>
          <p:cNvSpPr/>
          <p:nvPr/>
        </p:nvSpPr>
        <p:spPr>
          <a:xfrm>
            <a:off x="2178844" y="6560344"/>
            <a:ext cx="0" cy="369094"/>
          </a:xfrm>
          <a:prstGeom prst="line">
            <a:avLst/>
          </a:prstGeom>
          <a:noFill/>
          <a:ln w="2540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86" name="Shape 84"/>
          <p:cNvSpPr/>
          <p:nvPr/>
        </p:nvSpPr>
        <p:spPr>
          <a:xfrm>
            <a:off x="5512594" y="6560344"/>
            <a:ext cx="0" cy="273844"/>
          </a:xfrm>
          <a:prstGeom prst="line">
            <a:avLst/>
          </a:prstGeom>
          <a:noFill/>
          <a:ln w="2540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87" name="Shape 85"/>
          <p:cNvSpPr/>
          <p:nvPr/>
        </p:nvSpPr>
        <p:spPr>
          <a:xfrm>
            <a:off x="6012656" y="6560344"/>
            <a:ext cx="0" cy="273844"/>
          </a:xfrm>
          <a:prstGeom prst="line">
            <a:avLst/>
          </a:prstGeom>
          <a:noFill/>
          <a:ln w="2540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88" name="Shape 86"/>
          <p:cNvSpPr/>
          <p:nvPr/>
        </p:nvSpPr>
        <p:spPr>
          <a:xfrm>
            <a:off x="928687" y="7072312"/>
            <a:ext cx="2643187" cy="0"/>
          </a:xfrm>
          <a:prstGeom prst="line">
            <a:avLst/>
          </a:prstGeom>
          <a:noFill/>
          <a:ln w="44450">
            <a:solidFill>
              <a:srgbClr val="0D5961"/>
            </a:solidFill>
            <a:prstDash val="solid"/>
            <a:headEnd type="none"/>
            <a:tailEnd type="triangle"/>
          </a:ln>
        </p:spPr>
      </p:sp>
      <p:sp>
        <p:nvSpPr>
          <p:cNvPr id="89" name="Shape 87"/>
          <p:cNvSpPr/>
          <p:nvPr/>
        </p:nvSpPr>
        <p:spPr>
          <a:xfrm>
            <a:off x="1940719" y="7239000"/>
            <a:ext cx="0" cy="452437"/>
          </a:xfrm>
          <a:prstGeom prst="line">
            <a:avLst/>
          </a:prstGeom>
          <a:noFill/>
          <a:ln w="2540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90" name="Shape 88"/>
          <p:cNvSpPr/>
          <p:nvPr/>
        </p:nvSpPr>
        <p:spPr>
          <a:xfrm>
            <a:off x="738187" y="7834312"/>
            <a:ext cx="642937" cy="142875"/>
          </a:xfrm>
          <a:prstGeom prst="line">
            <a:avLst/>
          </a:prstGeom>
          <a:noFill/>
          <a:ln w="38100">
            <a:solidFill>
              <a:srgbClr val="0D5961"/>
            </a:solidFill>
            <a:prstDash val="solid"/>
            <a:headEnd type="none"/>
            <a:tailEnd type="triangle"/>
          </a:ln>
        </p:spPr>
      </p:sp>
      <p:sp>
        <p:nvSpPr>
          <p:cNvPr id="91" name="Shape 89"/>
          <p:cNvSpPr/>
          <p:nvPr/>
        </p:nvSpPr>
        <p:spPr>
          <a:xfrm>
            <a:off x="2214562" y="7834312"/>
            <a:ext cx="642937" cy="142875"/>
          </a:xfrm>
          <a:prstGeom prst="line">
            <a:avLst/>
          </a:prstGeom>
          <a:noFill/>
          <a:ln w="38100">
            <a:solidFill>
              <a:srgbClr val="0D5961"/>
            </a:solidFill>
            <a:prstDash val="solid"/>
            <a:headEnd type="none"/>
            <a:tailEnd type="triangle"/>
          </a:ln>
        </p:spPr>
      </p:sp>
      <p:sp>
        <p:nvSpPr>
          <p:cNvPr id="92" name="Shape 90"/>
          <p:cNvSpPr/>
          <p:nvPr/>
        </p:nvSpPr>
        <p:spPr>
          <a:xfrm>
            <a:off x="1845469" y="8334375"/>
            <a:ext cx="0" cy="238125"/>
          </a:xfrm>
          <a:prstGeom prst="line">
            <a:avLst/>
          </a:prstGeom>
          <a:noFill/>
          <a:ln w="2540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93" name="Shape 91"/>
          <p:cNvSpPr/>
          <p:nvPr/>
        </p:nvSpPr>
        <p:spPr>
          <a:xfrm>
            <a:off x="1845469" y="9072562"/>
            <a:ext cx="0" cy="261937"/>
          </a:xfrm>
          <a:prstGeom prst="line">
            <a:avLst/>
          </a:prstGeom>
          <a:noFill/>
          <a:ln w="2540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94" name="Shape 92"/>
          <p:cNvSpPr/>
          <p:nvPr/>
        </p:nvSpPr>
        <p:spPr>
          <a:xfrm>
            <a:off x="1845469" y="9739312"/>
            <a:ext cx="0" cy="452437"/>
          </a:xfrm>
          <a:prstGeom prst="line">
            <a:avLst/>
          </a:prstGeom>
          <a:noFill/>
          <a:ln w="2540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95" name="Shape 93"/>
          <p:cNvSpPr/>
          <p:nvPr/>
        </p:nvSpPr>
        <p:spPr>
          <a:xfrm>
            <a:off x="1845469" y="10787062"/>
            <a:ext cx="0" cy="547687"/>
          </a:xfrm>
          <a:prstGeom prst="line">
            <a:avLst/>
          </a:prstGeom>
          <a:noFill/>
          <a:ln w="2540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96" name="Shape 94"/>
          <p:cNvSpPr/>
          <p:nvPr/>
        </p:nvSpPr>
        <p:spPr>
          <a:xfrm>
            <a:off x="2559844" y="12525375"/>
            <a:ext cx="0" cy="381000"/>
          </a:xfrm>
          <a:prstGeom prst="line">
            <a:avLst/>
          </a:prstGeom>
          <a:noFill/>
          <a:ln w="22225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97" name="Shape 95"/>
          <p:cNvSpPr/>
          <p:nvPr/>
        </p:nvSpPr>
        <p:spPr>
          <a:xfrm>
            <a:off x="4881562" y="7429500"/>
            <a:ext cx="1785937" cy="0"/>
          </a:xfrm>
          <a:prstGeom prst="line">
            <a:avLst/>
          </a:prstGeom>
          <a:noFill/>
          <a:ln w="31750">
            <a:solidFill>
              <a:srgbClr val="6E9BA6"/>
            </a:solidFill>
            <a:prstDash val="solid"/>
            <a:headEnd type="none"/>
            <a:tailEnd type="none"/>
          </a:ln>
        </p:spPr>
      </p:sp>
      <p:sp>
        <p:nvSpPr>
          <p:cNvPr id="98" name="Shape 96"/>
          <p:cNvSpPr/>
          <p:nvPr/>
        </p:nvSpPr>
        <p:spPr>
          <a:xfrm>
            <a:off x="4881562" y="7834312"/>
            <a:ext cx="1785937" cy="0"/>
          </a:xfrm>
          <a:prstGeom prst="line">
            <a:avLst/>
          </a:prstGeom>
          <a:noFill/>
          <a:ln w="31750">
            <a:solidFill>
              <a:srgbClr val="6E9BA6"/>
            </a:solidFill>
            <a:prstDash val="solid"/>
            <a:headEnd type="none"/>
            <a:tailEnd type="none"/>
          </a:ln>
        </p:spPr>
      </p:sp>
      <p:sp>
        <p:nvSpPr>
          <p:cNvPr id="99" name="Shape 97"/>
          <p:cNvSpPr/>
          <p:nvPr/>
        </p:nvSpPr>
        <p:spPr>
          <a:xfrm>
            <a:off x="5000625" y="7465219"/>
            <a:ext cx="0" cy="333375"/>
          </a:xfrm>
          <a:prstGeom prst="line">
            <a:avLst/>
          </a:prstGeom>
          <a:noFill/>
          <a:ln w="19050">
            <a:solidFill>
              <a:srgbClr val="6E9BA6"/>
            </a:solidFill>
            <a:prstDash val="solid"/>
            <a:headEnd type="none"/>
            <a:tailEnd type="none"/>
          </a:ln>
        </p:spPr>
      </p:sp>
      <p:sp>
        <p:nvSpPr>
          <p:cNvPr id="100" name="Shape 98"/>
          <p:cNvSpPr/>
          <p:nvPr/>
        </p:nvSpPr>
        <p:spPr>
          <a:xfrm>
            <a:off x="5167312" y="7465219"/>
            <a:ext cx="0" cy="333375"/>
          </a:xfrm>
          <a:prstGeom prst="line">
            <a:avLst/>
          </a:prstGeom>
          <a:noFill/>
          <a:ln w="19050">
            <a:solidFill>
              <a:srgbClr val="6E9BA6"/>
            </a:solidFill>
            <a:prstDash val="solid"/>
            <a:headEnd type="none"/>
            <a:tailEnd type="none"/>
          </a:ln>
        </p:spPr>
      </p:sp>
      <p:sp>
        <p:nvSpPr>
          <p:cNvPr id="101" name="Shape 99"/>
          <p:cNvSpPr/>
          <p:nvPr/>
        </p:nvSpPr>
        <p:spPr>
          <a:xfrm>
            <a:off x="5334000" y="7465219"/>
            <a:ext cx="0" cy="333375"/>
          </a:xfrm>
          <a:prstGeom prst="line">
            <a:avLst/>
          </a:prstGeom>
          <a:noFill/>
          <a:ln w="19050">
            <a:solidFill>
              <a:srgbClr val="6E9BA6"/>
            </a:solidFill>
            <a:prstDash val="solid"/>
            <a:headEnd type="none"/>
            <a:tailEnd type="none"/>
          </a:ln>
        </p:spPr>
      </p:sp>
      <p:sp>
        <p:nvSpPr>
          <p:cNvPr id="102" name="Shape 100"/>
          <p:cNvSpPr/>
          <p:nvPr/>
        </p:nvSpPr>
        <p:spPr>
          <a:xfrm>
            <a:off x="5500687" y="7465219"/>
            <a:ext cx="0" cy="333375"/>
          </a:xfrm>
          <a:prstGeom prst="line">
            <a:avLst/>
          </a:prstGeom>
          <a:noFill/>
          <a:ln w="19050">
            <a:solidFill>
              <a:srgbClr val="6E9BA6"/>
            </a:solidFill>
            <a:prstDash val="solid"/>
            <a:headEnd type="none"/>
            <a:tailEnd type="none"/>
          </a:ln>
        </p:spPr>
      </p:sp>
      <p:sp>
        <p:nvSpPr>
          <p:cNvPr id="103" name="Shape 101"/>
          <p:cNvSpPr/>
          <p:nvPr/>
        </p:nvSpPr>
        <p:spPr>
          <a:xfrm>
            <a:off x="5857875" y="7465219"/>
            <a:ext cx="0" cy="333375"/>
          </a:xfrm>
          <a:prstGeom prst="line">
            <a:avLst/>
          </a:prstGeom>
          <a:noFill/>
          <a:ln w="19050">
            <a:solidFill>
              <a:srgbClr val="6E9BA6"/>
            </a:solidFill>
            <a:prstDash val="solid"/>
            <a:headEnd type="none"/>
            <a:tailEnd type="none"/>
          </a:ln>
        </p:spPr>
      </p:sp>
      <p:sp>
        <p:nvSpPr>
          <p:cNvPr id="104" name="Shape 102"/>
          <p:cNvSpPr/>
          <p:nvPr/>
        </p:nvSpPr>
        <p:spPr>
          <a:xfrm>
            <a:off x="6024562" y="7465219"/>
            <a:ext cx="0" cy="333375"/>
          </a:xfrm>
          <a:prstGeom prst="line">
            <a:avLst/>
          </a:prstGeom>
          <a:noFill/>
          <a:ln w="19050">
            <a:solidFill>
              <a:srgbClr val="6E9BA6"/>
            </a:solidFill>
            <a:prstDash val="solid"/>
            <a:headEnd type="none"/>
            <a:tailEnd type="none"/>
          </a:ln>
        </p:spPr>
      </p:sp>
      <p:sp>
        <p:nvSpPr>
          <p:cNvPr id="105" name="Shape 103"/>
          <p:cNvSpPr/>
          <p:nvPr/>
        </p:nvSpPr>
        <p:spPr>
          <a:xfrm>
            <a:off x="6191250" y="7465219"/>
            <a:ext cx="0" cy="333375"/>
          </a:xfrm>
          <a:prstGeom prst="line">
            <a:avLst/>
          </a:prstGeom>
          <a:noFill/>
          <a:ln w="19050">
            <a:solidFill>
              <a:srgbClr val="6E9BA6"/>
            </a:solidFill>
            <a:prstDash val="solid"/>
            <a:headEnd type="none"/>
            <a:tailEnd type="none"/>
          </a:ln>
        </p:spPr>
      </p:sp>
      <p:sp>
        <p:nvSpPr>
          <p:cNvPr id="106" name="Shape 104"/>
          <p:cNvSpPr/>
          <p:nvPr/>
        </p:nvSpPr>
        <p:spPr>
          <a:xfrm>
            <a:off x="6357937" y="7465219"/>
            <a:ext cx="0" cy="333375"/>
          </a:xfrm>
          <a:prstGeom prst="line">
            <a:avLst/>
          </a:prstGeom>
          <a:noFill/>
          <a:ln w="19050">
            <a:solidFill>
              <a:srgbClr val="6E9BA6"/>
            </a:solidFill>
            <a:prstDash val="solid"/>
            <a:headEnd type="none"/>
            <a:tailEnd type="none"/>
          </a:ln>
        </p:spPr>
      </p:sp>
      <p:sp>
        <p:nvSpPr>
          <p:cNvPr id="107" name="Shape 105"/>
          <p:cNvSpPr/>
          <p:nvPr/>
        </p:nvSpPr>
        <p:spPr>
          <a:xfrm>
            <a:off x="6524625" y="7465219"/>
            <a:ext cx="0" cy="333375"/>
          </a:xfrm>
          <a:prstGeom prst="line">
            <a:avLst/>
          </a:prstGeom>
          <a:noFill/>
          <a:ln w="19050">
            <a:solidFill>
              <a:srgbClr val="6E9BA6"/>
            </a:solidFill>
            <a:prstDash val="solid"/>
            <a:headEnd type="none"/>
            <a:tailEnd type="none"/>
          </a:ln>
        </p:spPr>
      </p:sp>
      <p:sp>
        <p:nvSpPr>
          <p:cNvPr id="108" name="Shape 106"/>
          <p:cNvSpPr/>
          <p:nvPr/>
        </p:nvSpPr>
        <p:spPr>
          <a:xfrm>
            <a:off x="5595937" y="8286750"/>
            <a:ext cx="0" cy="238125"/>
          </a:xfrm>
          <a:prstGeom prst="line">
            <a:avLst/>
          </a:prstGeom>
          <a:noFill/>
          <a:ln w="3175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109" name="Shape 107"/>
          <p:cNvSpPr/>
          <p:nvPr/>
        </p:nvSpPr>
        <p:spPr>
          <a:xfrm>
            <a:off x="5595937" y="9072562"/>
            <a:ext cx="261937" cy="452437"/>
          </a:xfrm>
          <a:prstGeom prst="line">
            <a:avLst/>
          </a:prstGeom>
          <a:noFill/>
          <a:ln w="31750">
            <a:solidFill>
              <a:srgbClr val="0D5961"/>
            </a:solidFill>
            <a:prstDash val="solid"/>
            <a:headEnd type="none"/>
            <a:tailEnd type="triangle"/>
          </a:ln>
        </p:spPr>
      </p:sp>
      <p:sp>
        <p:nvSpPr>
          <p:cNvPr id="110" name="Shape 108"/>
          <p:cNvSpPr/>
          <p:nvPr/>
        </p:nvSpPr>
        <p:spPr>
          <a:xfrm>
            <a:off x="5857875" y="9882187"/>
            <a:ext cx="0" cy="547687"/>
          </a:xfrm>
          <a:prstGeom prst="line">
            <a:avLst/>
          </a:prstGeom>
          <a:noFill/>
          <a:ln w="31750">
            <a:solidFill>
              <a:srgbClr val="0D5961"/>
            </a:solidFill>
            <a:prstDash val="solid"/>
            <a:headEnd type="none"/>
            <a:tailEnd type="triangle"/>
          </a:ln>
        </p:spPr>
      </p:sp>
      <p:sp>
        <p:nvSpPr>
          <p:cNvPr id="111" name="Shape 109"/>
          <p:cNvSpPr/>
          <p:nvPr/>
        </p:nvSpPr>
        <p:spPr>
          <a:xfrm>
            <a:off x="5334000" y="10929937"/>
            <a:ext cx="952500" cy="0"/>
          </a:xfrm>
          <a:prstGeom prst="line">
            <a:avLst/>
          </a:prstGeom>
          <a:noFill/>
          <a:ln w="101600">
            <a:solidFill>
              <a:srgbClr val="0D5961"/>
            </a:solidFill>
            <a:prstDash val="solid"/>
            <a:headEnd type="none"/>
            <a:tailEnd type="none"/>
          </a:ln>
        </p:spPr>
      </p:sp>
      <p:sp>
        <p:nvSpPr>
          <p:cNvPr id="112" name="Shape 110"/>
          <p:cNvSpPr/>
          <p:nvPr/>
        </p:nvSpPr>
        <p:spPr>
          <a:xfrm>
            <a:off x="6286500" y="10906125"/>
            <a:ext cx="0" cy="404812"/>
          </a:xfrm>
          <a:prstGeom prst="line">
            <a:avLst/>
          </a:prstGeom>
          <a:noFill/>
          <a:ln w="50800">
            <a:solidFill>
              <a:srgbClr val="0D5961"/>
            </a:solidFill>
            <a:prstDash val="solid"/>
            <a:headEnd type="none"/>
            <a:tailEnd type="triangle"/>
          </a:ln>
        </p:spPr>
      </p:sp>
      <p:sp>
        <p:nvSpPr>
          <p:cNvPr id="113" name="Shape 111"/>
          <p:cNvSpPr/>
          <p:nvPr/>
        </p:nvSpPr>
        <p:spPr>
          <a:xfrm>
            <a:off x="6012656" y="12775406"/>
            <a:ext cx="0" cy="130969"/>
          </a:xfrm>
          <a:prstGeom prst="line">
            <a:avLst/>
          </a:prstGeom>
          <a:noFill/>
          <a:ln w="22225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114" name="Shape 112"/>
          <p:cNvSpPr/>
          <p:nvPr/>
        </p:nvSpPr>
        <p:spPr>
          <a:xfrm>
            <a:off x="8524875" y="6238875"/>
            <a:ext cx="0" cy="381000"/>
          </a:xfrm>
          <a:prstGeom prst="line">
            <a:avLst/>
          </a:prstGeom>
          <a:noFill/>
          <a:ln w="19050">
            <a:solidFill>
              <a:srgbClr val="9B3521"/>
            </a:solidFill>
            <a:prstDash val="solid"/>
            <a:headEnd type="none"/>
            <a:tailEnd type="none"/>
          </a:ln>
        </p:spPr>
      </p:sp>
      <p:sp>
        <p:nvSpPr>
          <p:cNvPr id="115" name="Shape 113"/>
          <p:cNvSpPr/>
          <p:nvPr/>
        </p:nvSpPr>
        <p:spPr>
          <a:xfrm>
            <a:off x="8703469" y="6238875"/>
            <a:ext cx="0" cy="381000"/>
          </a:xfrm>
          <a:prstGeom prst="line">
            <a:avLst/>
          </a:prstGeom>
          <a:noFill/>
          <a:ln w="19050">
            <a:solidFill>
              <a:srgbClr val="9B3521"/>
            </a:solidFill>
            <a:prstDash val="solid"/>
            <a:headEnd type="none"/>
            <a:tailEnd type="none"/>
          </a:ln>
        </p:spPr>
      </p:sp>
      <p:sp>
        <p:nvSpPr>
          <p:cNvPr id="116" name="Shape 114"/>
          <p:cNvSpPr/>
          <p:nvPr/>
        </p:nvSpPr>
        <p:spPr>
          <a:xfrm>
            <a:off x="8882062" y="6238875"/>
            <a:ext cx="0" cy="381000"/>
          </a:xfrm>
          <a:prstGeom prst="line">
            <a:avLst/>
          </a:prstGeom>
          <a:noFill/>
          <a:ln w="19050">
            <a:solidFill>
              <a:srgbClr val="9B3521"/>
            </a:solidFill>
            <a:prstDash val="solid"/>
            <a:headEnd type="none"/>
            <a:tailEnd type="none"/>
          </a:ln>
        </p:spPr>
      </p:sp>
      <p:sp>
        <p:nvSpPr>
          <p:cNvPr id="117" name="Shape 115"/>
          <p:cNvSpPr/>
          <p:nvPr/>
        </p:nvSpPr>
        <p:spPr>
          <a:xfrm>
            <a:off x="8905875" y="6667500"/>
            <a:ext cx="0" cy="547687"/>
          </a:xfrm>
          <a:prstGeom prst="line">
            <a:avLst/>
          </a:prstGeom>
          <a:noFill/>
          <a:ln w="3175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118" name="Shape 116"/>
          <p:cNvSpPr/>
          <p:nvPr/>
        </p:nvSpPr>
        <p:spPr>
          <a:xfrm>
            <a:off x="7858125" y="7989094"/>
            <a:ext cx="1607344" cy="0"/>
          </a:xfrm>
          <a:prstGeom prst="line">
            <a:avLst/>
          </a:prstGeom>
          <a:noFill/>
          <a:ln w="28575">
            <a:solidFill>
              <a:srgbClr val="58387A"/>
            </a:solidFill>
            <a:prstDash val="solid"/>
            <a:headEnd type="none"/>
            <a:tailEnd type="none"/>
          </a:ln>
        </p:spPr>
      </p:sp>
      <p:sp>
        <p:nvSpPr>
          <p:cNvPr id="119" name="Shape 117"/>
          <p:cNvSpPr/>
          <p:nvPr/>
        </p:nvSpPr>
        <p:spPr>
          <a:xfrm>
            <a:off x="7858125" y="8155781"/>
            <a:ext cx="1607344" cy="0"/>
          </a:xfrm>
          <a:prstGeom prst="line">
            <a:avLst/>
          </a:prstGeom>
          <a:noFill/>
          <a:ln w="28575">
            <a:solidFill>
              <a:srgbClr val="58387A"/>
            </a:solidFill>
            <a:prstDash val="solid"/>
            <a:headEnd type="none"/>
            <a:tailEnd type="none"/>
          </a:ln>
        </p:spPr>
      </p:sp>
      <p:sp>
        <p:nvSpPr>
          <p:cNvPr id="120" name="Shape 118"/>
          <p:cNvSpPr/>
          <p:nvPr/>
        </p:nvSpPr>
        <p:spPr>
          <a:xfrm>
            <a:off x="9013031" y="8989219"/>
            <a:ext cx="0" cy="345281"/>
          </a:xfrm>
          <a:prstGeom prst="line">
            <a:avLst/>
          </a:prstGeom>
          <a:noFill/>
          <a:ln w="2540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121" name="Shape 119"/>
          <p:cNvSpPr/>
          <p:nvPr/>
        </p:nvSpPr>
        <p:spPr>
          <a:xfrm>
            <a:off x="7715250" y="5953125"/>
            <a:ext cx="0" cy="3381375"/>
          </a:xfrm>
          <a:prstGeom prst="line">
            <a:avLst/>
          </a:prstGeom>
          <a:noFill/>
          <a:ln w="22225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122" name="Shape 120"/>
          <p:cNvSpPr/>
          <p:nvPr/>
        </p:nvSpPr>
        <p:spPr>
          <a:xfrm>
            <a:off x="10239375" y="6703219"/>
            <a:ext cx="833437" cy="0"/>
          </a:xfrm>
          <a:prstGeom prst="line">
            <a:avLst/>
          </a:prstGeom>
          <a:noFill/>
          <a:ln w="22225">
            <a:solidFill>
              <a:srgbClr val="3A3A3A"/>
            </a:solidFill>
            <a:prstDash val="solid"/>
            <a:headEnd type="none"/>
            <a:tailEnd type="none"/>
          </a:ln>
        </p:spPr>
      </p:sp>
      <p:sp>
        <p:nvSpPr>
          <p:cNvPr id="123" name="Shape 121"/>
          <p:cNvSpPr/>
          <p:nvPr/>
        </p:nvSpPr>
        <p:spPr>
          <a:xfrm>
            <a:off x="11072812" y="6703219"/>
            <a:ext cx="0" cy="2416969"/>
          </a:xfrm>
          <a:prstGeom prst="line">
            <a:avLst/>
          </a:prstGeom>
          <a:noFill/>
          <a:ln w="22225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124" name="Shape 122"/>
          <p:cNvSpPr/>
          <p:nvPr/>
        </p:nvSpPr>
        <p:spPr>
          <a:xfrm>
            <a:off x="11072812" y="9917906"/>
            <a:ext cx="0" cy="488156"/>
          </a:xfrm>
          <a:prstGeom prst="line">
            <a:avLst/>
          </a:prstGeom>
          <a:noFill/>
          <a:ln w="22225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125" name="Shape 123"/>
          <p:cNvSpPr/>
          <p:nvPr/>
        </p:nvSpPr>
        <p:spPr>
          <a:xfrm>
            <a:off x="10501312" y="10787062"/>
            <a:ext cx="785812" cy="0"/>
          </a:xfrm>
          <a:prstGeom prst="line">
            <a:avLst/>
          </a:prstGeom>
          <a:noFill/>
          <a:ln w="22225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126" name="Shape 124"/>
          <p:cNvSpPr/>
          <p:nvPr/>
        </p:nvSpPr>
        <p:spPr>
          <a:xfrm>
            <a:off x="11191875" y="11025187"/>
            <a:ext cx="0" cy="857250"/>
          </a:xfrm>
          <a:prstGeom prst="line">
            <a:avLst/>
          </a:prstGeom>
          <a:noFill/>
          <a:ln w="25400">
            <a:solidFill>
              <a:srgbClr val="0D5961"/>
            </a:solidFill>
            <a:prstDash val="solid"/>
            <a:headEnd type="none"/>
            <a:tailEnd type="triangle"/>
          </a:ln>
        </p:spPr>
      </p:sp>
      <p:sp>
        <p:nvSpPr>
          <p:cNvPr id="127" name="Shape 125"/>
          <p:cNvSpPr/>
          <p:nvPr/>
        </p:nvSpPr>
        <p:spPr>
          <a:xfrm>
            <a:off x="8965406" y="10072687"/>
            <a:ext cx="0" cy="452437"/>
          </a:xfrm>
          <a:prstGeom prst="line">
            <a:avLst/>
          </a:prstGeom>
          <a:noFill/>
          <a:ln w="127000">
            <a:solidFill>
              <a:srgbClr val="0D5961"/>
            </a:solidFill>
            <a:prstDash val="solid"/>
            <a:headEnd type="none"/>
            <a:tailEnd type="triangle"/>
          </a:ln>
        </p:spPr>
      </p:sp>
      <p:sp>
        <p:nvSpPr>
          <p:cNvPr id="128" name="Shape 126"/>
          <p:cNvSpPr/>
          <p:nvPr/>
        </p:nvSpPr>
        <p:spPr>
          <a:xfrm>
            <a:off x="8215312" y="10191750"/>
            <a:ext cx="666750" cy="309562"/>
          </a:xfrm>
          <a:prstGeom prst="line">
            <a:avLst/>
          </a:prstGeom>
          <a:noFill/>
          <a:ln w="82550">
            <a:solidFill>
              <a:srgbClr val="0D5961"/>
            </a:solidFill>
            <a:prstDash val="solid"/>
            <a:headEnd type="none"/>
            <a:tailEnd type="none"/>
          </a:ln>
        </p:spPr>
      </p:sp>
      <p:sp>
        <p:nvSpPr>
          <p:cNvPr id="129" name="Shape 127"/>
          <p:cNvSpPr/>
          <p:nvPr/>
        </p:nvSpPr>
        <p:spPr>
          <a:xfrm>
            <a:off x="9667875" y="10215562"/>
            <a:ext cx="-595312" cy="285750"/>
          </a:xfrm>
          <a:prstGeom prst="line">
            <a:avLst/>
          </a:prstGeom>
          <a:noFill/>
          <a:ln w="82550">
            <a:solidFill>
              <a:srgbClr val="0D5961"/>
            </a:solidFill>
            <a:prstDash val="solid"/>
            <a:headEnd type="none"/>
            <a:tailEnd type="none"/>
          </a:ln>
        </p:spPr>
      </p:sp>
      <p:sp>
        <p:nvSpPr>
          <p:cNvPr id="130" name="Shape 128"/>
          <p:cNvSpPr/>
          <p:nvPr/>
        </p:nvSpPr>
        <p:spPr>
          <a:xfrm>
            <a:off x="9167812" y="10644187"/>
            <a:ext cx="0" cy="762000"/>
          </a:xfrm>
          <a:prstGeom prst="line">
            <a:avLst/>
          </a:prstGeom>
          <a:noFill/>
          <a:ln w="2540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131" name="Shape 129"/>
          <p:cNvSpPr/>
          <p:nvPr/>
        </p:nvSpPr>
        <p:spPr>
          <a:xfrm>
            <a:off x="1785937" y="12954000"/>
            <a:ext cx="8334375" cy="0"/>
          </a:xfrm>
          <a:prstGeom prst="line">
            <a:avLst/>
          </a:prstGeom>
          <a:noFill/>
          <a:ln w="22225">
            <a:solidFill>
              <a:srgbClr val="3A3A3A"/>
            </a:solidFill>
            <a:prstDash val="solid"/>
            <a:headEnd type="none"/>
            <a:tailEnd type="none"/>
          </a:ln>
        </p:spPr>
      </p:sp>
      <p:sp>
        <p:nvSpPr>
          <p:cNvPr id="132" name="Shape 130"/>
          <p:cNvSpPr/>
          <p:nvPr/>
        </p:nvSpPr>
        <p:spPr>
          <a:xfrm>
            <a:off x="1809750" y="12977812"/>
            <a:ext cx="0" cy="321469"/>
          </a:xfrm>
          <a:prstGeom prst="line">
            <a:avLst/>
          </a:prstGeom>
          <a:noFill/>
          <a:ln w="22225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133" name="Shape 131"/>
          <p:cNvSpPr/>
          <p:nvPr/>
        </p:nvSpPr>
        <p:spPr>
          <a:xfrm>
            <a:off x="6096000" y="12977812"/>
            <a:ext cx="0" cy="321469"/>
          </a:xfrm>
          <a:prstGeom prst="line">
            <a:avLst/>
          </a:prstGeom>
          <a:noFill/>
          <a:ln w="22225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134" name="Shape 132"/>
          <p:cNvSpPr/>
          <p:nvPr/>
        </p:nvSpPr>
        <p:spPr>
          <a:xfrm>
            <a:off x="10144125" y="12977812"/>
            <a:ext cx="0" cy="321469"/>
          </a:xfrm>
          <a:prstGeom prst="line">
            <a:avLst/>
          </a:prstGeom>
          <a:noFill/>
          <a:ln w="22225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135" name="Shape 133"/>
          <p:cNvSpPr/>
          <p:nvPr/>
        </p:nvSpPr>
        <p:spPr>
          <a:xfrm>
            <a:off x="2333625" y="14358937"/>
            <a:ext cx="0" cy="333375"/>
          </a:xfrm>
          <a:prstGeom prst="line">
            <a:avLst/>
          </a:prstGeom>
          <a:noFill/>
          <a:ln w="19050">
            <a:solidFill>
              <a:srgbClr val="9B3521"/>
            </a:solidFill>
            <a:prstDash val="solid"/>
            <a:headEnd type="none"/>
            <a:tailEnd type="none"/>
          </a:ln>
        </p:spPr>
      </p:sp>
      <p:sp>
        <p:nvSpPr>
          <p:cNvPr id="136" name="Shape 134"/>
          <p:cNvSpPr/>
          <p:nvPr/>
        </p:nvSpPr>
        <p:spPr>
          <a:xfrm>
            <a:off x="2547937" y="14358937"/>
            <a:ext cx="0" cy="333375"/>
          </a:xfrm>
          <a:prstGeom prst="line">
            <a:avLst/>
          </a:prstGeom>
          <a:noFill/>
          <a:ln w="19050">
            <a:solidFill>
              <a:srgbClr val="9B3521"/>
            </a:solidFill>
            <a:prstDash val="solid"/>
            <a:headEnd type="none"/>
            <a:tailEnd type="none"/>
          </a:ln>
        </p:spPr>
      </p:sp>
      <p:sp>
        <p:nvSpPr>
          <p:cNvPr id="137" name="Shape 135"/>
          <p:cNvSpPr/>
          <p:nvPr/>
        </p:nvSpPr>
        <p:spPr>
          <a:xfrm>
            <a:off x="2762250" y="14358937"/>
            <a:ext cx="0" cy="333375"/>
          </a:xfrm>
          <a:prstGeom prst="line">
            <a:avLst/>
          </a:prstGeom>
          <a:noFill/>
          <a:ln w="19050">
            <a:solidFill>
              <a:srgbClr val="9B3521"/>
            </a:solidFill>
            <a:prstDash val="solid"/>
            <a:headEnd type="none"/>
            <a:tailEnd type="none"/>
          </a:ln>
        </p:spPr>
      </p:sp>
      <p:sp>
        <p:nvSpPr>
          <p:cNvPr id="138" name="Shape 136"/>
          <p:cNvSpPr/>
          <p:nvPr/>
        </p:nvSpPr>
        <p:spPr>
          <a:xfrm>
            <a:off x="2976562" y="14358937"/>
            <a:ext cx="0" cy="333375"/>
          </a:xfrm>
          <a:prstGeom prst="line">
            <a:avLst/>
          </a:prstGeom>
          <a:noFill/>
          <a:ln w="19050">
            <a:solidFill>
              <a:srgbClr val="9B3521"/>
            </a:solidFill>
            <a:prstDash val="solid"/>
            <a:headEnd type="none"/>
            <a:tailEnd type="none"/>
          </a:ln>
        </p:spPr>
      </p:sp>
      <p:sp>
        <p:nvSpPr>
          <p:cNvPr id="139" name="Shape 137"/>
          <p:cNvSpPr/>
          <p:nvPr/>
        </p:nvSpPr>
        <p:spPr>
          <a:xfrm>
            <a:off x="1785937" y="16132968"/>
            <a:ext cx="0" cy="166687"/>
          </a:xfrm>
          <a:prstGeom prst="line">
            <a:avLst/>
          </a:prstGeom>
          <a:noFill/>
          <a:ln w="22225">
            <a:solidFill>
              <a:srgbClr val="3A3A3A"/>
            </a:solidFill>
            <a:prstDash val="solid"/>
            <a:headEnd type="none"/>
            <a:tailEnd type="none"/>
          </a:ln>
        </p:spPr>
      </p:sp>
      <p:sp>
        <p:nvSpPr>
          <p:cNvPr id="140" name="Shape 138"/>
          <p:cNvSpPr/>
          <p:nvPr/>
        </p:nvSpPr>
        <p:spPr>
          <a:xfrm>
            <a:off x="6131719" y="16132968"/>
            <a:ext cx="0" cy="166687"/>
          </a:xfrm>
          <a:prstGeom prst="line">
            <a:avLst/>
          </a:prstGeom>
          <a:noFill/>
          <a:ln w="22225">
            <a:solidFill>
              <a:srgbClr val="3A3A3A"/>
            </a:solidFill>
            <a:prstDash val="solid"/>
            <a:headEnd type="none"/>
            <a:tailEnd type="none"/>
          </a:ln>
        </p:spPr>
      </p:sp>
      <p:sp>
        <p:nvSpPr>
          <p:cNvPr id="141" name="Shape 139"/>
          <p:cNvSpPr/>
          <p:nvPr/>
        </p:nvSpPr>
        <p:spPr>
          <a:xfrm>
            <a:off x="9953625" y="16132968"/>
            <a:ext cx="0" cy="166687"/>
          </a:xfrm>
          <a:prstGeom prst="line">
            <a:avLst/>
          </a:prstGeom>
          <a:noFill/>
          <a:ln w="22225">
            <a:solidFill>
              <a:srgbClr val="3A3A3A"/>
            </a:solidFill>
            <a:prstDash val="solid"/>
            <a:headEnd type="none"/>
            <a:tailEnd type="none"/>
          </a:ln>
        </p:spPr>
      </p:sp>
      <p:sp>
        <p:nvSpPr>
          <p:cNvPr id="142" name="Shape 140"/>
          <p:cNvSpPr/>
          <p:nvPr/>
        </p:nvSpPr>
        <p:spPr>
          <a:xfrm>
            <a:off x="1785937" y="16311562"/>
            <a:ext cx="8215312" cy="0"/>
          </a:xfrm>
          <a:prstGeom prst="line">
            <a:avLst/>
          </a:prstGeom>
          <a:noFill/>
          <a:ln w="22225">
            <a:solidFill>
              <a:srgbClr val="3A3A3A"/>
            </a:solidFill>
            <a:prstDash val="solid"/>
            <a:headEnd type="none"/>
            <a:tailEnd type="none"/>
          </a:ln>
        </p:spPr>
      </p:sp>
      <p:sp>
        <p:nvSpPr>
          <p:cNvPr id="143" name="Shape 141"/>
          <p:cNvSpPr/>
          <p:nvPr/>
        </p:nvSpPr>
        <p:spPr>
          <a:xfrm>
            <a:off x="6131719" y="16335375"/>
            <a:ext cx="0" cy="142875"/>
          </a:xfrm>
          <a:prstGeom prst="line">
            <a:avLst/>
          </a:prstGeom>
          <a:noFill/>
          <a:ln w="22225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144" name="Text 142"/>
          <p:cNvSpPr txBox="1"/>
          <p:nvPr/>
        </p:nvSpPr>
        <p:spPr>
          <a:xfrm>
            <a:off x="3595687" y="71437"/>
            <a:ext cx="5500687" cy="500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00" dirty="0">
                <a:solidFill>
                  <a:srgbClr val="A02D14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Porphyromonas gingivalis</a:t>
            </a:r>
            <a:endParaRPr lang="en-US" sz="2300" dirty="0"/>
          </a:p>
        </p:txBody>
      </p:sp>
      <p:sp>
        <p:nvSpPr>
          <p:cNvPr id="145" name="Text 143"/>
          <p:cNvSpPr txBox="1"/>
          <p:nvPr/>
        </p:nvSpPr>
        <p:spPr>
          <a:xfrm>
            <a:off x="2333625" y="3619500"/>
            <a:ext cx="738187" cy="309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A02D14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LPS</a:t>
            </a:r>
            <a:endParaRPr lang="en-US" sz="1500" dirty="0"/>
          </a:p>
        </p:txBody>
      </p:sp>
      <p:sp>
        <p:nvSpPr>
          <p:cNvPr id="146" name="Text 144"/>
          <p:cNvSpPr txBox="1"/>
          <p:nvPr/>
        </p:nvSpPr>
        <p:spPr>
          <a:xfrm>
            <a:off x="1762125" y="3952875"/>
            <a:ext cx="20478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(lipopolysaccharide)</a:t>
            </a:r>
            <a:endParaRPr lang="en-US" sz="1150" dirty="0"/>
          </a:p>
        </p:txBody>
      </p:sp>
      <p:sp>
        <p:nvSpPr>
          <p:cNvPr id="147" name="Text 145"/>
          <p:cNvSpPr txBox="1"/>
          <p:nvPr/>
        </p:nvSpPr>
        <p:spPr>
          <a:xfrm>
            <a:off x="5191125" y="2595562"/>
            <a:ext cx="123825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A02D14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Gingipains</a:t>
            </a:r>
            <a:endParaRPr lang="en-US" sz="1500" dirty="0"/>
          </a:p>
        </p:txBody>
      </p:sp>
      <p:sp>
        <p:nvSpPr>
          <p:cNvPr id="148" name="Text 146"/>
          <p:cNvSpPr txBox="1"/>
          <p:nvPr/>
        </p:nvSpPr>
        <p:spPr>
          <a:xfrm>
            <a:off x="4881562" y="3810000"/>
            <a:ext cx="54768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Kgp</a:t>
            </a:r>
            <a:endParaRPr lang="en-US" sz="1150" dirty="0"/>
          </a:p>
        </p:txBody>
      </p:sp>
      <p:sp>
        <p:nvSpPr>
          <p:cNvPr id="149" name="Text 147"/>
          <p:cNvSpPr txBox="1"/>
          <p:nvPr/>
        </p:nvSpPr>
        <p:spPr>
          <a:xfrm>
            <a:off x="5595937" y="3810000"/>
            <a:ext cx="6191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RgpA</a:t>
            </a:r>
            <a:endParaRPr lang="en-US" sz="1150" dirty="0"/>
          </a:p>
        </p:txBody>
      </p:sp>
      <p:sp>
        <p:nvSpPr>
          <p:cNvPr id="150" name="Text 148"/>
          <p:cNvSpPr txBox="1"/>
          <p:nvPr/>
        </p:nvSpPr>
        <p:spPr>
          <a:xfrm>
            <a:off x="6238875" y="3810000"/>
            <a:ext cx="6191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RgpB</a:t>
            </a:r>
            <a:endParaRPr lang="en-US" sz="1150" dirty="0"/>
          </a:p>
        </p:txBody>
      </p:sp>
      <p:sp>
        <p:nvSpPr>
          <p:cNvPr id="151" name="Text 149"/>
          <p:cNvSpPr txBox="1"/>
          <p:nvPr/>
        </p:nvSpPr>
        <p:spPr>
          <a:xfrm>
            <a:off x="8584406" y="3643312"/>
            <a:ext cx="738187" cy="309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A02D14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OMVs</a:t>
            </a:r>
            <a:endParaRPr lang="en-US" sz="1500" dirty="0"/>
          </a:p>
        </p:txBody>
      </p:sp>
      <p:sp>
        <p:nvSpPr>
          <p:cNvPr id="152" name="Text 150"/>
          <p:cNvSpPr txBox="1"/>
          <p:nvPr/>
        </p:nvSpPr>
        <p:spPr>
          <a:xfrm>
            <a:off x="7786687" y="3952875"/>
            <a:ext cx="2214562" cy="309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(outer membrane vesicles)</a:t>
            </a:r>
            <a:endParaRPr lang="en-US" sz="1150" dirty="0"/>
          </a:p>
        </p:txBody>
      </p:sp>
      <p:sp>
        <p:nvSpPr>
          <p:cNvPr id="153" name="Text 151"/>
          <p:cNvSpPr txBox="1"/>
          <p:nvPr/>
        </p:nvSpPr>
        <p:spPr>
          <a:xfrm>
            <a:off x="1143000" y="5012531"/>
            <a:ext cx="2143125" cy="309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381F6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Tau proteolysis</a:t>
            </a:r>
            <a:endParaRPr lang="en-US" sz="1500" dirty="0"/>
          </a:p>
        </p:txBody>
      </p:sp>
      <p:sp>
        <p:nvSpPr>
          <p:cNvPr id="154" name="Text 152"/>
          <p:cNvSpPr txBox="1"/>
          <p:nvPr/>
        </p:nvSpPr>
        <p:spPr>
          <a:xfrm>
            <a:off x="1095375" y="5322094"/>
            <a:ext cx="2262187" cy="309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381F6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and NFT formation</a:t>
            </a:r>
            <a:endParaRPr lang="en-US" sz="1500" dirty="0"/>
          </a:p>
        </p:txBody>
      </p:sp>
      <p:sp>
        <p:nvSpPr>
          <p:cNvPr id="155" name="Text 153"/>
          <p:cNvSpPr txBox="1"/>
          <p:nvPr/>
        </p:nvSpPr>
        <p:spPr>
          <a:xfrm>
            <a:off x="5000625" y="5012531"/>
            <a:ext cx="2143125" cy="309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381F6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APP processing</a:t>
            </a:r>
            <a:endParaRPr lang="en-US" sz="1500" dirty="0"/>
          </a:p>
        </p:txBody>
      </p:sp>
      <p:sp>
        <p:nvSpPr>
          <p:cNvPr id="156" name="Text 154"/>
          <p:cNvSpPr txBox="1"/>
          <p:nvPr/>
        </p:nvSpPr>
        <p:spPr>
          <a:xfrm>
            <a:off x="4953000" y="5322094"/>
            <a:ext cx="2262187" cy="309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381F6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and Aβ deposition</a:t>
            </a:r>
            <a:endParaRPr lang="en-US" sz="1500" dirty="0"/>
          </a:p>
        </p:txBody>
      </p:sp>
      <p:sp>
        <p:nvSpPr>
          <p:cNvPr id="157" name="Text 155"/>
          <p:cNvSpPr txBox="1"/>
          <p:nvPr/>
        </p:nvSpPr>
        <p:spPr>
          <a:xfrm>
            <a:off x="8524875" y="4988719"/>
            <a:ext cx="2857500" cy="309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381F6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AChE-PAS nucleation of Aβ</a:t>
            </a:r>
            <a:endParaRPr lang="en-US" sz="1500" dirty="0"/>
          </a:p>
        </p:txBody>
      </p:sp>
      <p:sp>
        <p:nvSpPr>
          <p:cNvPr id="158" name="Text 156"/>
          <p:cNvSpPr txBox="1"/>
          <p:nvPr/>
        </p:nvSpPr>
        <p:spPr>
          <a:xfrm>
            <a:off x="8477250" y="5298281"/>
            <a:ext cx="2976562" cy="309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381F6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and increased AChE activity</a:t>
            </a:r>
            <a:endParaRPr lang="en-US" sz="1500" dirty="0"/>
          </a:p>
        </p:txBody>
      </p:sp>
      <p:sp>
        <p:nvSpPr>
          <p:cNvPr id="159" name="Text 157"/>
          <p:cNvSpPr txBox="1"/>
          <p:nvPr/>
        </p:nvSpPr>
        <p:spPr>
          <a:xfrm>
            <a:off x="714375" y="5810250"/>
            <a:ext cx="2928937" cy="309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A02D14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Gingipains (Kgp, RgpA, RgpB)</a:t>
            </a:r>
            <a:endParaRPr lang="en-US" sz="1300" dirty="0"/>
          </a:p>
        </p:txBody>
      </p:sp>
      <p:sp>
        <p:nvSpPr>
          <p:cNvPr id="160" name="Text 158"/>
          <p:cNvSpPr txBox="1"/>
          <p:nvPr/>
        </p:nvSpPr>
        <p:spPr>
          <a:xfrm>
            <a:off x="4500562" y="5810250"/>
            <a:ext cx="2976562" cy="309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A02D14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Gingipains (Kgp, RgpA, RgpB)</a:t>
            </a:r>
            <a:endParaRPr lang="en-US" sz="1300" dirty="0"/>
          </a:p>
        </p:txBody>
      </p:sp>
      <p:sp>
        <p:nvSpPr>
          <p:cNvPr id="161" name="Text 159"/>
          <p:cNvSpPr txBox="1"/>
          <p:nvPr/>
        </p:nvSpPr>
        <p:spPr>
          <a:xfrm>
            <a:off x="8334375" y="5810250"/>
            <a:ext cx="1309687" cy="309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A02D14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LPS/OMVs</a:t>
            </a:r>
            <a:endParaRPr lang="en-US" sz="1300" dirty="0"/>
          </a:p>
        </p:txBody>
      </p:sp>
      <p:sp>
        <p:nvSpPr>
          <p:cNvPr id="162" name="Text 160"/>
          <p:cNvSpPr txBox="1"/>
          <p:nvPr/>
        </p:nvSpPr>
        <p:spPr>
          <a:xfrm>
            <a:off x="261937" y="6941344"/>
            <a:ext cx="714375" cy="309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C646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Tau</a:t>
            </a:r>
            <a:endParaRPr lang="en-US" sz="1400" dirty="0"/>
          </a:p>
        </p:txBody>
      </p:sp>
      <p:sp>
        <p:nvSpPr>
          <p:cNvPr id="163" name="Text 161"/>
          <p:cNvSpPr txBox="1"/>
          <p:nvPr/>
        </p:nvSpPr>
        <p:spPr>
          <a:xfrm>
            <a:off x="4238625" y="6917531"/>
            <a:ext cx="714375" cy="309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C646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APP</a:t>
            </a:r>
            <a:endParaRPr lang="en-US" sz="1400" dirty="0"/>
          </a:p>
        </p:txBody>
      </p:sp>
      <p:sp>
        <p:nvSpPr>
          <p:cNvPr id="164" name="Text 162"/>
          <p:cNvSpPr txBox="1"/>
          <p:nvPr/>
        </p:nvSpPr>
        <p:spPr>
          <a:xfrm>
            <a:off x="214312" y="7905750"/>
            <a:ext cx="7143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C646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Tau</a:t>
            </a:r>
            <a:endParaRPr lang="en-US" sz="1400" dirty="0"/>
          </a:p>
        </p:txBody>
      </p:sp>
      <p:sp>
        <p:nvSpPr>
          <p:cNvPr id="165" name="Text 163"/>
          <p:cNvSpPr txBox="1"/>
          <p:nvPr/>
        </p:nvSpPr>
        <p:spPr>
          <a:xfrm>
            <a:off x="190500" y="8155781"/>
            <a:ext cx="11906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C646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fragments</a:t>
            </a:r>
            <a:endParaRPr lang="en-US" sz="1400" dirty="0"/>
          </a:p>
        </p:txBody>
      </p:sp>
      <p:sp>
        <p:nvSpPr>
          <p:cNvPr id="166" name="Text 164"/>
          <p:cNvSpPr txBox="1"/>
          <p:nvPr/>
        </p:nvSpPr>
        <p:spPr>
          <a:xfrm>
            <a:off x="1000125" y="8560594"/>
            <a:ext cx="2381250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1C1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Hyperphosphorylation</a:t>
            </a:r>
            <a:endParaRPr lang="en-US" sz="1250" dirty="0"/>
          </a:p>
        </p:txBody>
      </p:sp>
      <p:sp>
        <p:nvSpPr>
          <p:cNvPr id="167" name="Text 165"/>
          <p:cNvSpPr txBox="1"/>
          <p:nvPr/>
        </p:nvSpPr>
        <p:spPr>
          <a:xfrm>
            <a:off x="976312" y="8810625"/>
            <a:ext cx="2333625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(dysregulated kinases)</a:t>
            </a:r>
            <a:endParaRPr lang="en-US" sz="1150" dirty="0"/>
          </a:p>
        </p:txBody>
      </p:sp>
      <p:sp>
        <p:nvSpPr>
          <p:cNvPr id="168" name="Text 166"/>
          <p:cNvSpPr txBox="1"/>
          <p:nvPr/>
        </p:nvSpPr>
        <p:spPr>
          <a:xfrm>
            <a:off x="1571625" y="9346406"/>
            <a:ext cx="7143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C646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PLK2</a:t>
            </a:r>
            <a:endParaRPr lang="en-US" sz="1300" dirty="0"/>
          </a:p>
        </p:txBody>
      </p:sp>
      <p:sp>
        <p:nvSpPr>
          <p:cNvPr id="169" name="Text 167"/>
          <p:cNvSpPr txBox="1"/>
          <p:nvPr/>
        </p:nvSpPr>
        <p:spPr>
          <a:xfrm>
            <a:off x="404812" y="10215562"/>
            <a:ext cx="25003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B1459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Paired helical filaments</a:t>
            </a:r>
            <a:endParaRPr lang="en-US" sz="1250" dirty="0"/>
          </a:p>
        </p:txBody>
      </p:sp>
      <p:sp>
        <p:nvSpPr>
          <p:cNvPr id="170" name="Text 168"/>
          <p:cNvSpPr txBox="1"/>
          <p:nvPr/>
        </p:nvSpPr>
        <p:spPr>
          <a:xfrm>
            <a:off x="1000125" y="10477500"/>
            <a:ext cx="83343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B1459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(PHF)</a:t>
            </a:r>
            <a:endParaRPr lang="en-US" sz="1250" dirty="0"/>
          </a:p>
        </p:txBody>
      </p:sp>
      <p:sp>
        <p:nvSpPr>
          <p:cNvPr id="171" name="Text 169"/>
          <p:cNvSpPr txBox="1"/>
          <p:nvPr/>
        </p:nvSpPr>
        <p:spPr>
          <a:xfrm>
            <a:off x="2952750" y="9989344"/>
            <a:ext cx="7858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C646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CALD1</a:t>
            </a:r>
            <a:endParaRPr lang="en-US" sz="1300" dirty="0"/>
          </a:p>
        </p:txBody>
      </p:sp>
      <p:sp>
        <p:nvSpPr>
          <p:cNvPr id="172" name="Text 170"/>
          <p:cNvSpPr txBox="1"/>
          <p:nvPr/>
        </p:nvSpPr>
        <p:spPr>
          <a:xfrm>
            <a:off x="4202906" y="9989344"/>
            <a:ext cx="666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C646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HES1</a:t>
            </a:r>
            <a:endParaRPr lang="en-US" sz="1300" dirty="0"/>
          </a:p>
        </p:txBody>
      </p:sp>
      <p:sp>
        <p:nvSpPr>
          <p:cNvPr id="173" name="Text 171"/>
          <p:cNvSpPr txBox="1"/>
          <p:nvPr/>
        </p:nvSpPr>
        <p:spPr>
          <a:xfrm>
            <a:off x="2024062" y="11906250"/>
            <a:ext cx="1785937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B1459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Neurofibrillary</a:t>
            </a:r>
            <a:endParaRPr lang="en-US" sz="1250" dirty="0"/>
          </a:p>
        </p:txBody>
      </p:sp>
      <p:sp>
        <p:nvSpPr>
          <p:cNvPr id="174" name="Text 172"/>
          <p:cNvSpPr txBox="1"/>
          <p:nvPr/>
        </p:nvSpPr>
        <p:spPr>
          <a:xfrm>
            <a:off x="2024062" y="12180093"/>
            <a:ext cx="1785937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B1459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tangles (NFTs)</a:t>
            </a:r>
            <a:endParaRPr lang="en-US" sz="1250" dirty="0"/>
          </a:p>
        </p:txBody>
      </p:sp>
      <p:sp>
        <p:nvSpPr>
          <p:cNvPr id="175" name="Text 173"/>
          <p:cNvSpPr txBox="1"/>
          <p:nvPr/>
        </p:nvSpPr>
        <p:spPr>
          <a:xfrm>
            <a:off x="6381750" y="6786562"/>
            <a:ext cx="11906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C646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β-secretase</a:t>
            </a:r>
            <a:endParaRPr lang="en-US" sz="1250" dirty="0"/>
          </a:p>
        </p:txBody>
      </p:sp>
      <p:sp>
        <p:nvSpPr>
          <p:cNvPr id="176" name="Text 174"/>
          <p:cNvSpPr txBox="1"/>
          <p:nvPr/>
        </p:nvSpPr>
        <p:spPr>
          <a:xfrm>
            <a:off x="6405562" y="7048500"/>
            <a:ext cx="1071562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0C646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(BACE1)</a:t>
            </a:r>
            <a:endParaRPr lang="en-US" sz="1150" dirty="0"/>
          </a:p>
        </p:txBody>
      </p:sp>
      <p:sp>
        <p:nvSpPr>
          <p:cNvPr id="177" name="Text 175"/>
          <p:cNvSpPr txBox="1"/>
          <p:nvPr/>
        </p:nvSpPr>
        <p:spPr>
          <a:xfrm>
            <a:off x="6429375" y="7834312"/>
            <a:ext cx="11906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C646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γ-secretase</a:t>
            </a:r>
            <a:endParaRPr lang="en-US" sz="1250" dirty="0"/>
          </a:p>
        </p:txBody>
      </p:sp>
      <p:sp>
        <p:nvSpPr>
          <p:cNvPr id="178" name="Text 176"/>
          <p:cNvSpPr txBox="1"/>
          <p:nvPr/>
        </p:nvSpPr>
        <p:spPr>
          <a:xfrm>
            <a:off x="6381750" y="8096250"/>
            <a:ext cx="1369219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0C646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(presenilin 1)</a:t>
            </a:r>
            <a:endParaRPr lang="en-US" sz="1150" dirty="0"/>
          </a:p>
        </p:txBody>
      </p:sp>
      <p:sp>
        <p:nvSpPr>
          <p:cNvPr id="179" name="Text 177"/>
          <p:cNvSpPr txBox="1"/>
          <p:nvPr/>
        </p:nvSpPr>
        <p:spPr>
          <a:xfrm>
            <a:off x="4786312" y="8572500"/>
            <a:ext cx="21431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1C1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Aβ peptides (Aβ40/42)</a:t>
            </a:r>
            <a:endParaRPr lang="en-US" sz="1250" dirty="0"/>
          </a:p>
        </p:txBody>
      </p:sp>
      <p:sp>
        <p:nvSpPr>
          <p:cNvPr id="180" name="Text 178"/>
          <p:cNvSpPr txBox="1"/>
          <p:nvPr/>
        </p:nvSpPr>
        <p:spPr>
          <a:xfrm>
            <a:off x="5357812" y="9548812"/>
            <a:ext cx="107156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1C1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Oligomers</a:t>
            </a:r>
            <a:endParaRPr lang="en-US" sz="1250" dirty="0"/>
          </a:p>
        </p:txBody>
      </p:sp>
      <p:sp>
        <p:nvSpPr>
          <p:cNvPr id="181" name="Text 179"/>
          <p:cNvSpPr txBox="1"/>
          <p:nvPr/>
        </p:nvSpPr>
        <p:spPr>
          <a:xfrm>
            <a:off x="5548312" y="10465593"/>
            <a:ext cx="95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1C1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Fibrils</a:t>
            </a:r>
            <a:endParaRPr lang="en-US" sz="1250" dirty="0"/>
          </a:p>
        </p:txBody>
      </p:sp>
      <p:sp>
        <p:nvSpPr>
          <p:cNvPr id="182" name="Text 180"/>
          <p:cNvSpPr txBox="1"/>
          <p:nvPr/>
        </p:nvSpPr>
        <p:spPr>
          <a:xfrm>
            <a:off x="5072062" y="12168187"/>
            <a:ext cx="14763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B1459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Aβ deposition</a:t>
            </a:r>
            <a:endParaRPr lang="en-US" sz="1250" dirty="0"/>
          </a:p>
        </p:txBody>
      </p:sp>
      <p:sp>
        <p:nvSpPr>
          <p:cNvPr id="183" name="Text 181"/>
          <p:cNvSpPr txBox="1"/>
          <p:nvPr/>
        </p:nvSpPr>
        <p:spPr>
          <a:xfrm>
            <a:off x="5024437" y="12430125"/>
            <a:ext cx="1666875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1459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(amyloid plaques)</a:t>
            </a:r>
            <a:endParaRPr lang="en-US" sz="1150" dirty="0"/>
          </a:p>
        </p:txBody>
      </p:sp>
      <p:sp>
        <p:nvSpPr>
          <p:cNvPr id="184" name="Text 182"/>
          <p:cNvSpPr txBox="1"/>
          <p:nvPr/>
        </p:nvSpPr>
        <p:spPr>
          <a:xfrm>
            <a:off x="8596312" y="7643812"/>
            <a:ext cx="833437" cy="309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A525E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AChE</a:t>
            </a:r>
            <a:endParaRPr lang="en-US" sz="1300" dirty="0"/>
          </a:p>
        </p:txBody>
      </p:sp>
      <p:sp>
        <p:nvSpPr>
          <p:cNvPr id="185" name="Text 183"/>
          <p:cNvSpPr txBox="1"/>
          <p:nvPr/>
        </p:nvSpPr>
        <p:spPr>
          <a:xfrm>
            <a:off x="9739312" y="7858125"/>
            <a:ext cx="5953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81F6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PAS</a:t>
            </a:r>
            <a:endParaRPr lang="en-US" sz="1250" dirty="0"/>
          </a:p>
        </p:txBody>
      </p:sp>
      <p:sp>
        <p:nvSpPr>
          <p:cNvPr id="186" name="Text 184"/>
          <p:cNvSpPr txBox="1"/>
          <p:nvPr/>
        </p:nvSpPr>
        <p:spPr>
          <a:xfrm>
            <a:off x="8048625" y="8393906"/>
            <a:ext cx="1726406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AChE-PAS complex</a:t>
            </a:r>
            <a:endParaRPr lang="en-US" sz="1200" dirty="0"/>
          </a:p>
        </p:txBody>
      </p:sp>
      <p:sp>
        <p:nvSpPr>
          <p:cNvPr id="187" name="Text 185"/>
          <p:cNvSpPr txBox="1"/>
          <p:nvPr/>
        </p:nvSpPr>
        <p:spPr>
          <a:xfrm>
            <a:off x="7858125" y="8679656"/>
            <a:ext cx="2286000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nucleates Aβ aggregation</a:t>
            </a:r>
            <a:endParaRPr lang="en-US" sz="1200" dirty="0"/>
          </a:p>
        </p:txBody>
      </p:sp>
      <p:sp>
        <p:nvSpPr>
          <p:cNvPr id="188" name="Text 186"/>
          <p:cNvSpPr txBox="1"/>
          <p:nvPr/>
        </p:nvSpPr>
        <p:spPr>
          <a:xfrm>
            <a:off x="7727156" y="9382125"/>
            <a:ext cx="2119312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Enhanced Aβ aggregation</a:t>
            </a:r>
            <a:endParaRPr lang="en-US" sz="1200" dirty="0"/>
          </a:p>
        </p:txBody>
      </p:sp>
      <p:sp>
        <p:nvSpPr>
          <p:cNvPr id="189" name="Text 187"/>
          <p:cNvSpPr txBox="1"/>
          <p:nvPr/>
        </p:nvSpPr>
        <p:spPr>
          <a:xfrm>
            <a:off x="8072437" y="9644062"/>
            <a:ext cx="1726406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C1C1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(oligomers/fibrils)</a:t>
            </a:r>
            <a:endParaRPr lang="en-US" sz="1100" dirty="0"/>
          </a:p>
        </p:txBody>
      </p:sp>
      <p:sp>
        <p:nvSpPr>
          <p:cNvPr id="190" name="Text 188"/>
          <p:cNvSpPr txBox="1"/>
          <p:nvPr/>
        </p:nvSpPr>
        <p:spPr>
          <a:xfrm>
            <a:off x="10572750" y="9191625"/>
            <a:ext cx="1190625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C646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Increased</a:t>
            </a:r>
            <a:endParaRPr lang="en-US" sz="1250" dirty="0"/>
          </a:p>
        </p:txBody>
      </p:sp>
      <p:sp>
        <p:nvSpPr>
          <p:cNvPr id="191" name="Text 189"/>
          <p:cNvSpPr txBox="1"/>
          <p:nvPr/>
        </p:nvSpPr>
        <p:spPr>
          <a:xfrm>
            <a:off x="10382250" y="9453562"/>
            <a:ext cx="1547812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C646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AChE activity</a:t>
            </a:r>
            <a:endParaRPr lang="en-US" sz="1250" dirty="0"/>
          </a:p>
        </p:txBody>
      </p:sp>
      <p:sp>
        <p:nvSpPr>
          <p:cNvPr id="192" name="Text 190"/>
          <p:cNvSpPr txBox="1"/>
          <p:nvPr/>
        </p:nvSpPr>
        <p:spPr>
          <a:xfrm>
            <a:off x="10644187" y="10429875"/>
            <a:ext cx="83343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C646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AChE</a:t>
            </a:r>
            <a:endParaRPr lang="en-US" sz="1300" dirty="0"/>
          </a:p>
        </p:txBody>
      </p:sp>
      <p:sp>
        <p:nvSpPr>
          <p:cNvPr id="193" name="Text 191"/>
          <p:cNvSpPr txBox="1"/>
          <p:nvPr/>
        </p:nvSpPr>
        <p:spPr>
          <a:xfrm>
            <a:off x="9977437" y="10644187"/>
            <a:ext cx="5953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1C1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ACh</a:t>
            </a:r>
            <a:endParaRPr lang="en-US" sz="1250" dirty="0"/>
          </a:p>
        </p:txBody>
      </p:sp>
      <p:sp>
        <p:nvSpPr>
          <p:cNvPr id="194" name="Text 192"/>
          <p:cNvSpPr txBox="1"/>
          <p:nvPr/>
        </p:nvSpPr>
        <p:spPr>
          <a:xfrm>
            <a:off x="11310937" y="10632281"/>
            <a:ext cx="88106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1C1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Choline</a:t>
            </a:r>
            <a:endParaRPr lang="en-US" sz="1250" dirty="0"/>
          </a:p>
        </p:txBody>
      </p:sp>
      <p:sp>
        <p:nvSpPr>
          <p:cNvPr id="195" name="Text 193"/>
          <p:cNvSpPr txBox="1"/>
          <p:nvPr/>
        </p:nvSpPr>
        <p:spPr>
          <a:xfrm>
            <a:off x="11525250" y="10882312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1C1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+</a:t>
            </a:r>
            <a:endParaRPr lang="en-US" sz="1250" dirty="0"/>
          </a:p>
        </p:txBody>
      </p:sp>
      <p:sp>
        <p:nvSpPr>
          <p:cNvPr id="196" name="Text 194"/>
          <p:cNvSpPr txBox="1"/>
          <p:nvPr/>
        </p:nvSpPr>
        <p:spPr>
          <a:xfrm>
            <a:off x="11334750" y="11060906"/>
            <a:ext cx="857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1C1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Acetate</a:t>
            </a:r>
            <a:endParaRPr lang="en-US" sz="1250" dirty="0"/>
          </a:p>
        </p:txBody>
      </p:sp>
      <p:sp>
        <p:nvSpPr>
          <p:cNvPr id="197" name="Text 195"/>
          <p:cNvSpPr txBox="1"/>
          <p:nvPr/>
        </p:nvSpPr>
        <p:spPr>
          <a:xfrm>
            <a:off x="10834687" y="11894343"/>
            <a:ext cx="89296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C646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UCHL1</a:t>
            </a:r>
            <a:endParaRPr lang="en-US" sz="1250" dirty="0"/>
          </a:p>
        </p:txBody>
      </p:sp>
      <p:sp>
        <p:nvSpPr>
          <p:cNvPr id="198" name="Text 196"/>
          <p:cNvSpPr txBox="1"/>
          <p:nvPr/>
        </p:nvSpPr>
        <p:spPr>
          <a:xfrm>
            <a:off x="8310562" y="11525250"/>
            <a:ext cx="208359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B1459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Reduced synaptic ACh</a:t>
            </a:r>
            <a:endParaRPr lang="en-US" sz="1250" dirty="0"/>
          </a:p>
        </p:txBody>
      </p:sp>
      <p:sp>
        <p:nvSpPr>
          <p:cNvPr id="199" name="Text 197"/>
          <p:cNvSpPr txBox="1"/>
          <p:nvPr/>
        </p:nvSpPr>
        <p:spPr>
          <a:xfrm>
            <a:off x="8239125" y="11799093"/>
            <a:ext cx="2262187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1459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(cholinergic dysfunction)</a:t>
            </a:r>
            <a:endParaRPr lang="en-US" sz="1100" dirty="0"/>
          </a:p>
        </p:txBody>
      </p:sp>
      <p:sp>
        <p:nvSpPr>
          <p:cNvPr id="200" name="Text 198"/>
          <p:cNvSpPr txBox="1"/>
          <p:nvPr/>
        </p:nvSpPr>
        <p:spPr>
          <a:xfrm>
            <a:off x="1023937" y="13430250"/>
            <a:ext cx="2500312" cy="309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381F6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Neuroinflammation</a:t>
            </a:r>
            <a:endParaRPr lang="en-US" sz="1550" dirty="0"/>
          </a:p>
        </p:txBody>
      </p:sp>
      <p:sp>
        <p:nvSpPr>
          <p:cNvPr id="201" name="Text 199"/>
          <p:cNvSpPr txBox="1"/>
          <p:nvPr/>
        </p:nvSpPr>
        <p:spPr>
          <a:xfrm>
            <a:off x="976312" y="13716000"/>
            <a:ext cx="2381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81F6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(microglial activation)</a:t>
            </a:r>
            <a:endParaRPr lang="en-US" sz="1150" dirty="0"/>
          </a:p>
        </p:txBody>
      </p:sp>
      <p:sp>
        <p:nvSpPr>
          <p:cNvPr id="202" name="Text 200"/>
          <p:cNvSpPr txBox="1"/>
          <p:nvPr/>
        </p:nvSpPr>
        <p:spPr>
          <a:xfrm>
            <a:off x="1964531" y="14025562"/>
            <a:ext cx="11906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02D14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LPS/OMVs</a:t>
            </a:r>
            <a:endParaRPr lang="en-US" sz="1200" dirty="0"/>
          </a:p>
        </p:txBody>
      </p:sp>
      <p:sp>
        <p:nvSpPr>
          <p:cNvPr id="203" name="Text 201"/>
          <p:cNvSpPr txBox="1"/>
          <p:nvPr/>
        </p:nvSpPr>
        <p:spPr>
          <a:xfrm>
            <a:off x="1524000" y="14918531"/>
            <a:ext cx="7143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C646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TLR4</a:t>
            </a:r>
            <a:endParaRPr lang="en-US" sz="1250" dirty="0"/>
          </a:p>
        </p:txBody>
      </p:sp>
      <p:sp>
        <p:nvSpPr>
          <p:cNvPr id="204" name="Text 202"/>
          <p:cNvSpPr txBox="1"/>
          <p:nvPr/>
        </p:nvSpPr>
        <p:spPr>
          <a:xfrm>
            <a:off x="3071812" y="14894718"/>
            <a:ext cx="83343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IL-1β ↑</a:t>
            </a:r>
            <a:endParaRPr lang="en-US" sz="1150" dirty="0"/>
          </a:p>
        </p:txBody>
      </p:sp>
      <p:sp>
        <p:nvSpPr>
          <p:cNvPr id="205" name="Text 203"/>
          <p:cNvSpPr txBox="1"/>
          <p:nvPr/>
        </p:nvSpPr>
        <p:spPr>
          <a:xfrm>
            <a:off x="1976437" y="15275718"/>
            <a:ext cx="83343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C646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NLRP3</a:t>
            </a:r>
            <a:endParaRPr lang="en-US" sz="1250" dirty="0"/>
          </a:p>
        </p:txBody>
      </p:sp>
      <p:sp>
        <p:nvSpPr>
          <p:cNvPr id="206" name="Text 204"/>
          <p:cNvSpPr txBox="1"/>
          <p:nvPr/>
        </p:nvSpPr>
        <p:spPr>
          <a:xfrm>
            <a:off x="3048000" y="15156656"/>
            <a:ext cx="83343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IL-18 ↑</a:t>
            </a:r>
            <a:endParaRPr lang="en-US" sz="1150" dirty="0"/>
          </a:p>
        </p:txBody>
      </p:sp>
      <p:sp>
        <p:nvSpPr>
          <p:cNvPr id="207" name="Text 205"/>
          <p:cNvSpPr txBox="1"/>
          <p:nvPr/>
        </p:nvSpPr>
        <p:spPr>
          <a:xfrm>
            <a:off x="1928812" y="15466218"/>
            <a:ext cx="12501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C646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inflammasome</a:t>
            </a:r>
            <a:endParaRPr lang="en-US" sz="1250" dirty="0"/>
          </a:p>
        </p:txBody>
      </p:sp>
      <p:sp>
        <p:nvSpPr>
          <p:cNvPr id="208" name="Text 206"/>
          <p:cNvSpPr txBox="1"/>
          <p:nvPr/>
        </p:nvSpPr>
        <p:spPr>
          <a:xfrm>
            <a:off x="3048000" y="15418593"/>
            <a:ext cx="89296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TNF-α ↑</a:t>
            </a:r>
            <a:endParaRPr lang="en-US" sz="1150" dirty="0"/>
          </a:p>
        </p:txBody>
      </p:sp>
      <p:sp>
        <p:nvSpPr>
          <p:cNvPr id="209" name="Text 207"/>
          <p:cNvSpPr txBox="1"/>
          <p:nvPr/>
        </p:nvSpPr>
        <p:spPr>
          <a:xfrm>
            <a:off x="1964531" y="15716250"/>
            <a:ext cx="113109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C646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activation</a:t>
            </a:r>
            <a:endParaRPr lang="en-US" sz="1250" dirty="0"/>
          </a:p>
        </p:txBody>
      </p:sp>
      <p:sp>
        <p:nvSpPr>
          <p:cNvPr id="210" name="Text 208"/>
          <p:cNvSpPr txBox="1"/>
          <p:nvPr/>
        </p:nvSpPr>
        <p:spPr>
          <a:xfrm>
            <a:off x="3083719" y="15668625"/>
            <a:ext cx="77390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ROS ↑</a:t>
            </a:r>
            <a:endParaRPr lang="en-US" sz="1150" dirty="0"/>
          </a:p>
        </p:txBody>
      </p:sp>
      <p:sp>
        <p:nvSpPr>
          <p:cNvPr id="211" name="Text 209"/>
          <p:cNvSpPr txBox="1"/>
          <p:nvPr/>
        </p:nvSpPr>
        <p:spPr>
          <a:xfrm>
            <a:off x="4881562" y="13454062"/>
            <a:ext cx="2357437" cy="309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381F6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Cholinergic deficit</a:t>
            </a:r>
            <a:endParaRPr lang="en-US" sz="1550" dirty="0"/>
          </a:p>
        </p:txBody>
      </p:sp>
      <p:sp>
        <p:nvSpPr>
          <p:cNvPr id="212" name="Text 210"/>
          <p:cNvSpPr txBox="1"/>
          <p:nvPr/>
        </p:nvSpPr>
        <p:spPr>
          <a:xfrm>
            <a:off x="6215062" y="14108906"/>
            <a:ext cx="1428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↓ACh synthesis</a:t>
            </a:r>
            <a:endParaRPr lang="en-US" sz="1150" dirty="0"/>
          </a:p>
        </p:txBody>
      </p:sp>
      <p:sp>
        <p:nvSpPr>
          <p:cNvPr id="213" name="Text 211"/>
          <p:cNvSpPr txBox="1"/>
          <p:nvPr/>
        </p:nvSpPr>
        <p:spPr>
          <a:xfrm>
            <a:off x="6215062" y="14394656"/>
            <a:ext cx="136921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↓ACh release</a:t>
            </a:r>
            <a:endParaRPr lang="en-US" sz="1150" dirty="0"/>
          </a:p>
        </p:txBody>
      </p:sp>
      <p:sp>
        <p:nvSpPr>
          <p:cNvPr id="214" name="Text 212"/>
          <p:cNvSpPr txBox="1"/>
          <p:nvPr/>
        </p:nvSpPr>
        <p:spPr>
          <a:xfrm>
            <a:off x="5595937" y="14656593"/>
            <a:ext cx="5953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ACh</a:t>
            </a:r>
            <a:endParaRPr lang="en-US" sz="1150" dirty="0"/>
          </a:p>
        </p:txBody>
      </p:sp>
      <p:sp>
        <p:nvSpPr>
          <p:cNvPr id="215" name="Text 213"/>
          <p:cNvSpPr txBox="1"/>
          <p:nvPr/>
        </p:nvSpPr>
        <p:spPr>
          <a:xfrm>
            <a:off x="6191250" y="14680406"/>
            <a:ext cx="15478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↑ AChE activity</a:t>
            </a:r>
            <a:endParaRPr lang="en-US" sz="1150" dirty="0"/>
          </a:p>
        </p:txBody>
      </p:sp>
      <p:sp>
        <p:nvSpPr>
          <p:cNvPr id="216" name="Text 214"/>
          <p:cNvSpPr txBox="1"/>
          <p:nvPr/>
        </p:nvSpPr>
        <p:spPr>
          <a:xfrm>
            <a:off x="6215062" y="14989968"/>
            <a:ext cx="136921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↓Cholinergic</a:t>
            </a:r>
            <a:endParaRPr lang="en-US" sz="1150" dirty="0"/>
          </a:p>
        </p:txBody>
      </p:sp>
      <p:sp>
        <p:nvSpPr>
          <p:cNvPr id="217" name="Text 215"/>
          <p:cNvSpPr txBox="1"/>
          <p:nvPr/>
        </p:nvSpPr>
        <p:spPr>
          <a:xfrm>
            <a:off x="6215062" y="15275718"/>
            <a:ext cx="160734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receptor signaling</a:t>
            </a:r>
            <a:endParaRPr lang="en-US" sz="1150" dirty="0"/>
          </a:p>
        </p:txBody>
      </p:sp>
      <p:sp>
        <p:nvSpPr>
          <p:cNvPr id="218" name="Text 216"/>
          <p:cNvSpPr txBox="1"/>
          <p:nvPr/>
        </p:nvSpPr>
        <p:spPr>
          <a:xfrm>
            <a:off x="8929687" y="13477875"/>
            <a:ext cx="2214562" cy="309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381F6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Cognitive decline</a:t>
            </a:r>
            <a:endParaRPr lang="en-US" sz="1550" dirty="0"/>
          </a:p>
        </p:txBody>
      </p:sp>
      <p:sp>
        <p:nvSpPr>
          <p:cNvPr id="219" name="Text 217"/>
          <p:cNvSpPr txBox="1"/>
          <p:nvPr/>
        </p:nvSpPr>
        <p:spPr>
          <a:xfrm>
            <a:off x="9834562" y="14180343"/>
            <a:ext cx="178593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• Memory impairment</a:t>
            </a:r>
            <a:endParaRPr lang="en-US" sz="1150" dirty="0"/>
          </a:p>
        </p:txBody>
      </p:sp>
      <p:sp>
        <p:nvSpPr>
          <p:cNvPr id="220" name="Text 218"/>
          <p:cNvSpPr txBox="1"/>
          <p:nvPr/>
        </p:nvSpPr>
        <p:spPr>
          <a:xfrm>
            <a:off x="9834562" y="14466093"/>
            <a:ext cx="172640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• Learning deficits</a:t>
            </a:r>
            <a:endParaRPr lang="en-US" sz="1150" dirty="0"/>
          </a:p>
        </p:txBody>
      </p:sp>
      <p:sp>
        <p:nvSpPr>
          <p:cNvPr id="221" name="Text 219"/>
          <p:cNvSpPr txBox="1"/>
          <p:nvPr/>
        </p:nvSpPr>
        <p:spPr>
          <a:xfrm>
            <a:off x="9810750" y="14787562"/>
            <a:ext cx="208359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• Executive dysfunction</a:t>
            </a:r>
            <a:endParaRPr lang="en-US" sz="1150" dirty="0"/>
          </a:p>
        </p:txBody>
      </p:sp>
      <p:sp>
        <p:nvSpPr>
          <p:cNvPr id="222" name="Text 220"/>
          <p:cNvSpPr txBox="1"/>
          <p:nvPr/>
        </p:nvSpPr>
        <p:spPr>
          <a:xfrm>
            <a:off x="9786937" y="15049500"/>
            <a:ext cx="190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• Behavioral changes</a:t>
            </a:r>
            <a:endParaRPr lang="en-US" sz="1150" dirty="0"/>
          </a:p>
        </p:txBody>
      </p:sp>
      <p:sp>
        <p:nvSpPr>
          <p:cNvPr id="223" name="Text 221"/>
          <p:cNvSpPr txBox="1"/>
          <p:nvPr/>
        </p:nvSpPr>
        <p:spPr>
          <a:xfrm>
            <a:off x="3833812" y="16764000"/>
            <a:ext cx="4071937" cy="357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3B1E62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Alzheimer disease progression</a:t>
            </a:r>
            <a:endParaRPr lang="en-US" sz="1550" dirty="0"/>
          </a:p>
        </p:txBody>
      </p:sp>
      <p:sp>
        <p:nvSpPr>
          <p:cNvPr id="224" name="Text 222"/>
          <p:cNvSpPr txBox="1"/>
          <p:nvPr/>
        </p:nvSpPr>
        <p:spPr>
          <a:xfrm>
            <a:off x="916781" y="17704593"/>
            <a:ext cx="2917031" cy="309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E4A4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Pathogen factors (P. gingivalis)</a:t>
            </a:r>
            <a:endParaRPr lang="en-US" sz="1150" dirty="0"/>
          </a:p>
        </p:txBody>
      </p:sp>
      <p:sp>
        <p:nvSpPr>
          <p:cNvPr id="225" name="Text 223"/>
          <p:cNvSpPr txBox="1"/>
          <p:nvPr/>
        </p:nvSpPr>
        <p:spPr>
          <a:xfrm>
            <a:off x="4191000" y="17704593"/>
            <a:ext cx="1845469" cy="309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E4A4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Host proteins/genes</a:t>
            </a:r>
            <a:endParaRPr lang="en-US" sz="1150" dirty="0"/>
          </a:p>
        </p:txBody>
      </p:sp>
      <p:sp>
        <p:nvSpPr>
          <p:cNvPr id="226" name="Text 224"/>
          <p:cNvSpPr txBox="1"/>
          <p:nvPr/>
        </p:nvSpPr>
        <p:spPr>
          <a:xfrm>
            <a:off x="6750844" y="17704593"/>
            <a:ext cx="1726406" cy="309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E4A4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Pathology/outcomes</a:t>
            </a:r>
            <a:endParaRPr lang="en-US" sz="1150" dirty="0"/>
          </a:p>
        </p:txBody>
      </p:sp>
      <p:sp>
        <p:nvSpPr>
          <p:cNvPr id="227" name="Text 225"/>
          <p:cNvSpPr txBox="1"/>
          <p:nvPr/>
        </p:nvSpPr>
        <p:spPr>
          <a:xfrm>
            <a:off x="9382125" y="17549812"/>
            <a:ext cx="226218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→ Activation/promotion</a:t>
            </a:r>
            <a:endParaRPr lang="en-US" sz="1150" dirty="0"/>
          </a:p>
        </p:txBody>
      </p:sp>
      <p:sp>
        <p:nvSpPr>
          <p:cNvPr id="228" name="Text 226"/>
          <p:cNvSpPr txBox="1"/>
          <p:nvPr/>
        </p:nvSpPr>
        <p:spPr>
          <a:xfrm>
            <a:off x="9263062" y="17883187"/>
            <a:ext cx="232171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-- Inhibition/reduction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PowerPoint reconstruction</dc:title>
  <dc:subject>Editable reconstruction from PageIR</dc:subject>
  <dc:creator>image-to-editable-pptx</dc:creator>
  <cp:lastModifiedBy>image-to-editable-pptx</cp:lastModifiedBy>
  <cp:revision>1</cp:revision>
  <dcterms:created xsi:type="dcterms:W3CDTF">2026-08-29T09:08:18Z</dcterms:created>
  <dcterms:modified xsi:type="dcterms:W3CDTF">2026-08-29T09:08:18Z</dcterms:modified>
</cp:coreProperties>
</file>